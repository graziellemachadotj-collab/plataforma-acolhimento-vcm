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ira Sans Condensed"/>
      <p:regular r:id="rId201314"/>
    </p:embeddedFont>
    <p:embeddedFont>
      <p:font typeface="Fira Sans Condensed SemiBold"/>
      <p:regular r:id="rId201315"/>
    </p:embeddedFont>
    <p:embeddedFont>
      <p:font typeface="Fira Sans Condensed Bold"/>
      <p:regular r:id="rId201316"/>
    </p:embeddedFont>
    <p:embeddedFont>
      <p:font typeface="JetBrains Mono"/>
      <p:regular r:id="rId201317"/>
    </p:embeddedFont>
    <p:embeddedFont>
      <p:font typeface="JetBrains Mono Medium"/>
      <p:regular r:id="rId201318"/>
    </p:embeddedFont>
    <p:embeddedFont>
      <p:font typeface="JetBrains Mono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tema com cuidado: a violência contra a mulher tem muitas formas, e nomeá-las ajuda a reconhecer situações e a buscar apoio. Use um tom acolhedor e não culpabilizante.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as cinco formas do art. 7º como uma visão geral. Cada uma será aprofundada em um slide próprio.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a violência física deixa marcas visíveis, mas nem sempre. Reforce que a pessoa não tem culpa.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violência psicológica é muitas vezes a mais difícil de nomear. Valide a experiência de quem a reconhece.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Trate o tema com cuidado e linguagem clara. Lembre que a responsabilidade é sempre de quem comete a violência.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o controle financeiro também é uma forma de violência, mesmo quando parece algo prático.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violência moral atinge a reputação. Reforce que a vítima não deve ser culpada pelas mentiras ou ofensas.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contexto doméstico e familiar como o lugar onde as formas de violência acontecem. Ressalte que sair da situação é um processo e que há apoio disponível.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estas manifestações como complementares. Elas aparecem em outros contextos e não substituem as cinco formas do art. 7º.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Finalize lembrando que as situações podem se sobrepor e que há canais oficiais para orientação e denúncia. Confirme os canais disponíveis na localidade da participante.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F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F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0859" y="1397000"/>
            <a:ext cx="5505312" cy="4870053"/>
          </a:xfrm>
          <a:prstGeom prst="roundRect">
            <a:avLst>
              <a:gd name="adj" fmla="val 1252"/>
            </a:avLst>
          </a:prstGeom>
          <a:solidFill>
            <a:srgbClr val="F4F3EC"/>
          </a:solidFill>
          <a:ln w="25399">
            <a:solidFill>
              <a:srgbClr val="F2D1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1050" y="1701800"/>
            <a:ext cx="1156862" cy="257473"/>
          </a:xfrm>
          <a:prstGeom prst="roundRect">
            <a:avLst>
              <a:gd name="adj" fmla="val 7695"/>
            </a:avLst>
          </a:prstGeom>
          <a:solidFill>
            <a:srgbClr val="F2D13A"/>
          </a:solidFill>
          <a:ln/>
        </p:spPr>
      </p:sp>
      <p:sp>
        <p:nvSpPr>
          <p:cNvPr id="4" name="Text 2"/>
          <p:cNvSpPr/>
          <p:nvPr/>
        </p:nvSpPr>
        <p:spPr>
          <a:xfrm>
            <a:off x="1080068" y="1754909"/>
            <a:ext cx="1568411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2" kern="100" dirty="0">
                <a:solidFill>
                  <a:srgbClr val="13201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VISÃO GERAL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81050" y="2076748"/>
            <a:ext cx="5175121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EDUCAÇÃO · LEI MARIA DA PENHA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81050" y="2311110"/>
            <a:ext cx="4844929" cy="1563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spc="-19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Violência contra a mulher: conhecer para reconhecer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81050" y="3974902"/>
            <a:ext cx="4844929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Entender as formas de violência previstas em lei ajuda a identificar situações e a buscar apoio com segurança.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81050" y="4477147"/>
          <a:ext cx="4844929" cy="914400"/>
        </p:xfrm>
        <a:graphic>
          <a:graphicData uri="http://schemas.openxmlformats.org/drawingml/2006/table">
            <a:tbl>
              <a:tblPr/>
              <a:tblGrid>
                <a:gridCol w="1647189"/>
                <a:gridCol w="3197740"/>
              </a:tblGrid>
              <a:tr h="347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spc="63" kern="100" dirty="0">
                          <a:solidFill>
                            <a:srgbClr val="00000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OBJETIVO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Informar com linguagem acolhedora</a:t>
                      </a:r>
                      <a:endParaRPr lang="en-US" sz="13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</a:tr>
              <a:tr h="5625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spc="63" kern="100" dirty="0">
                          <a:solidFill>
                            <a:srgbClr val="00000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ABORDAGEM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Cinco formas do art. 7º e outras manifestações</a:t>
                      </a:r>
                      <a:endParaRPr lang="en-US" sz="13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</a:tr>
              <a:tr h="3416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spc="63" kern="100" dirty="0">
                          <a:solidFill>
                            <a:srgbClr val="00000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COMPROMISSO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Busca de ajuda e canais oficiais</a:t>
                      </a:r>
                      <a:endParaRPr lang="en-US" sz="13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981050" y="5805488"/>
            <a:ext cx="5175121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APRESENTAÇÃO EDUCATIVA ·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384175"/>
            <a:ext cx="1181070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VISÃO GERAL · ART. 7º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0990" y="613606"/>
            <a:ext cx="1142971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A lei reconhece cinco formas de violência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0990" y="1102717"/>
          <a:ext cx="11429714" cy="914400"/>
        </p:xfrm>
        <a:graphic>
          <a:graphicData uri="http://schemas.openxmlformats.org/drawingml/2006/table">
            <a:tbl>
              <a:tblPr/>
              <a:tblGrid>
                <a:gridCol w="2743131"/>
                <a:gridCol w="8686583"/>
              </a:tblGrid>
              <a:tr h="352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4F3EC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Forma</a:t>
                      </a:r>
                      <a:endParaRPr lang="en-US" sz="13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23822" marR="123822" marT="66038" marB="66038" anchor="ctr">
                    <a:lnL w="12700" cap="flat" cmpd="sng" algn="ctr">
                      <a:solidFill>
                        <a:srgbClr val="0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4F3EC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O que caracteriza</a:t>
                      </a:r>
                      <a:endParaRPr lang="en-US" sz="13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23822" marR="123822" marT="66038" marB="66038" anchor="ctr">
                    <a:lnL w="12700" cap="flat" cmpd="sng" algn="ctr">
                      <a:solidFill>
                        <a:srgbClr val="0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spc="63" kern="100" dirty="0">
                          <a:solidFill>
                            <a:srgbClr val="9FE3C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FÍSICA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3822" marR="123822" marT="66038" marB="66038" anchor="ctr">
                    <a:lnL w="12700" cap="flat" cmpd="sng" algn="ctr">
                      <a:solidFill>
                        <a:srgbClr val="0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3ECE7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Ofensa à integridade ou à saúde do corpo</a:t>
                      </a:r>
                      <a:endParaRPr lang="en-US" sz="13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23822" marR="123822" marT="66038" marB="66038" anchor="ctr">
                    <a:lnL w="12700" cap="flat" cmpd="sng" algn="ctr">
                      <a:solidFill>
                        <a:srgbClr val="0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spc="63" kern="100" dirty="0">
                          <a:solidFill>
                            <a:srgbClr val="9FE3C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PSICOLÓGICA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3822" marR="123822" marT="66038" marB="66038" anchor="ctr">
                    <a:lnL w="12700" cap="flat" cmpd="sng" algn="ctr">
                      <a:solidFill>
                        <a:srgbClr val="0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3ECE7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Dano emocional, humilhação, controle, ameaça e isolamento</a:t>
                      </a:r>
                      <a:endParaRPr lang="en-US" sz="13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23822" marR="123822" marT="66038" marB="66038" anchor="ctr">
                    <a:lnL w="12700" cap="flat" cmpd="sng" algn="ctr">
                      <a:solidFill>
                        <a:srgbClr val="0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spc="63" kern="100" dirty="0">
                          <a:solidFill>
                            <a:srgbClr val="9FE3C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SEXUAL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3822" marR="123822" marT="66038" marB="66038" anchor="ctr">
                    <a:lnL w="12700" cap="flat" cmpd="sng" algn="ctr">
                      <a:solidFill>
                        <a:srgbClr val="0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3ECE7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Obrigar a manter ou participar de relação sexual não desejada, ou impedir métodos contraceptivos</a:t>
                      </a:r>
                      <a:endParaRPr lang="en-US" sz="13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23822" marR="123822" marT="66038" marB="66038" anchor="ctr">
                    <a:lnL w="12700" cap="flat" cmpd="sng" algn="ctr">
                      <a:solidFill>
                        <a:srgbClr val="0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spc="63" kern="100" dirty="0">
                          <a:solidFill>
                            <a:srgbClr val="9FE3C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PATRIMONIAL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3822" marR="123822" marT="66038" marB="66038" anchor="ctr">
                    <a:lnL w="12700" cap="flat" cmpd="sng" algn="ctr">
                      <a:solidFill>
                        <a:srgbClr val="0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3ECE7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Retenção, subtração ou destruição de objetos, documentos, bens e recursos</a:t>
                      </a:r>
                      <a:endParaRPr lang="en-US" sz="13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23822" marR="123822" marT="66038" marB="66038" anchor="ctr">
                    <a:lnL w="12700" cap="flat" cmpd="sng" algn="ctr">
                      <a:solidFill>
                        <a:srgbClr val="0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5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spc="63" kern="100" dirty="0">
                          <a:solidFill>
                            <a:srgbClr val="9FE3C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MORAL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3822" marR="123822" marT="66038" marB="66038" anchor="ctr">
                    <a:lnL w="12700" cap="flat" cmpd="sng" algn="ctr">
                      <a:solidFill>
                        <a:srgbClr val="0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3ECE7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-120"/>
                        </a:rPr>
                        <a:t>Calúnia, difamação ou injúria</a:t>
                      </a:r>
                      <a:endParaRPr lang="en-US" sz="13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23822" marR="123822" marT="66038" marB="66038" anchor="ctr">
                    <a:lnL w="12700" cap="flat" cmpd="sng" algn="ctr">
                      <a:solidFill>
                        <a:srgbClr val="0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80990" y="3334147"/>
            <a:ext cx="118107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A3C7B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FONTE: LEI Nº 11.340/2006 (LEI MARIA DA PENHA), ART. 7º.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384175"/>
            <a:ext cx="1181070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ART. 7º, INCISO I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0990" y="613606"/>
            <a:ext cx="1142971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Violência física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0990" y="1102717"/>
            <a:ext cx="1181070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Qualquer conduta que ofenda a integridade ou a saúde do corpo.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0990" y="1431627"/>
            <a:ext cx="5638659" cy="1475680"/>
          </a:xfrm>
          <a:prstGeom prst="roundRect">
            <a:avLst>
              <a:gd name="adj" fmla="val 4131"/>
            </a:avLst>
          </a:prstGeom>
          <a:solidFill>
            <a:srgbClr val="F4F3EC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1664990"/>
            <a:ext cx="518147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Exemplos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1971377"/>
            <a:ext cx="5181470" cy="707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Empurrões, tapas, socos ou chutes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Queimaduras, cortes ou lesões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Impedir a pessoa de sair de casa ou de receber atendimento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046" y="1431627"/>
            <a:ext cx="5638659" cy="1475680"/>
          </a:xfrm>
          <a:prstGeom prst="roundRect">
            <a:avLst>
              <a:gd name="adj" fmla="val 4131"/>
            </a:avLst>
          </a:prstGeom>
          <a:solidFill>
            <a:srgbClr val="F4F3EC"/>
          </a:solidFill>
          <a:ln/>
        </p:spPr>
      </p:sp>
      <p:sp>
        <p:nvSpPr>
          <p:cNvPr id="9" name="Text 7"/>
          <p:cNvSpPr/>
          <p:nvPr/>
        </p:nvSpPr>
        <p:spPr>
          <a:xfrm>
            <a:off x="6400640" y="1664990"/>
            <a:ext cx="518147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Sinais de alerta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640" y="1971377"/>
            <a:ext cx="5181470" cy="46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Marcas frequentes com explicações vagas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Medo de contrariar o parceiro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0990" y="3027561"/>
            <a:ext cx="118107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A3C7B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LESÕES PODEM SER REGISTRADAS EM EXAME DE CORPO DE DELITO.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384175"/>
            <a:ext cx="1181070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ART. 7º, INCISO II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0990" y="613606"/>
            <a:ext cx="1142971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Violência psicológica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0990" y="1102717"/>
            <a:ext cx="1181070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Qualquer conduta que cause dano emocional, diminua a autoestima ou prejudique o pleno desenvolvimento da mulher.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0990" y="1431627"/>
            <a:ext cx="5638659" cy="1722041"/>
          </a:xfrm>
          <a:prstGeom prst="roundRect">
            <a:avLst>
              <a:gd name="adj" fmla="val 3540"/>
            </a:avLst>
          </a:prstGeom>
          <a:solidFill>
            <a:srgbClr val="F4F3EC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1664990"/>
            <a:ext cx="518147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Exemplos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1971377"/>
            <a:ext cx="5181470" cy="953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Humilhação, insultos e xingamentos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Ameaças e chantagem emocional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Controle de roupas, redes sociais e amizades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Isolamento de familiares e amigos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046" y="1431627"/>
            <a:ext cx="5638659" cy="1722041"/>
          </a:xfrm>
          <a:prstGeom prst="roundRect">
            <a:avLst>
              <a:gd name="adj" fmla="val 3540"/>
            </a:avLst>
          </a:prstGeom>
          <a:solidFill>
            <a:srgbClr val="F4F3EC"/>
          </a:solidFill>
          <a:ln/>
        </p:spPr>
      </p:sp>
      <p:sp>
        <p:nvSpPr>
          <p:cNvPr id="9" name="Text 7"/>
          <p:cNvSpPr/>
          <p:nvPr/>
        </p:nvSpPr>
        <p:spPr>
          <a:xfrm>
            <a:off x="6400640" y="1664990"/>
            <a:ext cx="518147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Sinais de alerta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640" y="1971377"/>
            <a:ext cx="5181470" cy="46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Sensação constante de medo ou culpa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Perda de confiança em si mesma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0990" y="3273921"/>
            <a:ext cx="118107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A3C7B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MESMO SEM MARCAS NO CORPO, ESSE TIPO DE VIOLÊNCIA CAUSA SOFRIMENTO REAL.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384175"/>
            <a:ext cx="1181070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ART. 7º, INCISO III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0990" y="613606"/>
            <a:ext cx="1142971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Violência sexual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0990" y="1102717"/>
            <a:ext cx="1181070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Qualquer conduta que obrigue a presenciar, manter ou participar de relação sexual não desejada, mediante intimidação, ameaça, coação ou uso da força.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0990" y="1431627"/>
            <a:ext cx="5638659" cy="1475680"/>
          </a:xfrm>
          <a:prstGeom prst="roundRect">
            <a:avLst>
              <a:gd name="adj" fmla="val 4131"/>
            </a:avLst>
          </a:prstGeom>
          <a:solidFill>
            <a:srgbClr val="F4F3EC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1664990"/>
            <a:ext cx="518147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Exemplos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1971377"/>
            <a:ext cx="5181470" cy="707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Forçar relação sexual, mesmo dentro do casamento ou de um namoro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Impedir o uso de métodos contraceptivos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Forçar gravidez, aborto ou prostituição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046" y="1431627"/>
            <a:ext cx="5638659" cy="1475680"/>
          </a:xfrm>
          <a:prstGeom prst="roundRect">
            <a:avLst>
              <a:gd name="adj" fmla="val 4131"/>
            </a:avLst>
          </a:prstGeom>
          <a:solidFill>
            <a:srgbClr val="F4F3EC"/>
          </a:solidFill>
          <a:ln/>
        </p:spPr>
      </p:sp>
      <p:sp>
        <p:nvSpPr>
          <p:cNvPr id="9" name="Text 7"/>
          <p:cNvSpPr/>
          <p:nvPr/>
        </p:nvSpPr>
        <p:spPr>
          <a:xfrm>
            <a:off x="6400640" y="1664990"/>
            <a:ext cx="518147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Importante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640" y="1971377"/>
            <a:ext cx="518147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O consentimento precisa ser livre e pode ser retirado a qualquer momento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0990" y="3027561"/>
            <a:ext cx="118107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A3C7B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ATENDIMENTO DE SAÚDE E ACOLHIMENTO SÃO DIREITOS EM CASO DE VIOLÊNCIA SEXUAL.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384175"/>
            <a:ext cx="1181070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ART. 7º, INCISO IV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0990" y="613606"/>
            <a:ext cx="1142971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Violência patrimonial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0990" y="1102717"/>
            <a:ext cx="1181070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Qualquer conduta que retenha, subtraia, destrua parcial ou totalmente objetos, documentos, bens, valores ou recursos econômicos.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0990" y="1431627"/>
            <a:ext cx="5638659" cy="1475680"/>
          </a:xfrm>
          <a:prstGeom prst="roundRect">
            <a:avLst>
              <a:gd name="adj" fmla="val 4131"/>
            </a:avLst>
          </a:prstGeom>
          <a:solidFill>
            <a:srgbClr val="F4F3EC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1664990"/>
            <a:ext cx="518147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Exemplos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1971377"/>
            <a:ext cx="5181470" cy="707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Retirar o cartão, o salário ou o dinheiro da mulher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Destruir documentos pessoais ou objetos de uso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Impedir o acesso a bens da família ou ao próprio trabalho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046" y="1431627"/>
            <a:ext cx="5638659" cy="1475680"/>
          </a:xfrm>
          <a:prstGeom prst="roundRect">
            <a:avLst>
              <a:gd name="adj" fmla="val 4131"/>
            </a:avLst>
          </a:prstGeom>
          <a:solidFill>
            <a:srgbClr val="F4F3EC"/>
          </a:solidFill>
          <a:ln/>
        </p:spPr>
      </p:sp>
      <p:sp>
        <p:nvSpPr>
          <p:cNvPr id="9" name="Text 7"/>
          <p:cNvSpPr/>
          <p:nvPr/>
        </p:nvSpPr>
        <p:spPr>
          <a:xfrm>
            <a:off x="6400640" y="1664990"/>
            <a:ext cx="518147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Sinais de alerta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640" y="1971377"/>
            <a:ext cx="5181470" cy="46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Falta de acesso ao próprio dinheiro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Documentos sempre guardados por outra pessoa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0990" y="3027561"/>
            <a:ext cx="118107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A3C7B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GUARDAR CÓPIAS DE DOCUMENTOS IMPORTANTES PODE AJUDAR EM CASO DE NECESSIDADE.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384175"/>
            <a:ext cx="1181070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ART. 7º, INCISO V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0990" y="613606"/>
            <a:ext cx="1142971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Violência moral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0990" y="1102717"/>
            <a:ext cx="1181070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Qualquer conduta que configure calúnia, difamação ou injúria contra a mulher.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0990" y="1431627"/>
            <a:ext cx="5638659" cy="1475680"/>
          </a:xfrm>
          <a:prstGeom prst="roundRect">
            <a:avLst>
              <a:gd name="adj" fmla="val 4131"/>
            </a:avLst>
          </a:prstGeom>
          <a:solidFill>
            <a:srgbClr val="F4F3EC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1664990"/>
            <a:ext cx="518147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Exemplos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1971377"/>
            <a:ext cx="5181470" cy="707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Espalhar mentiras sobre a vida ou o comportamento da mulher (calúnia)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Atribuir fatos ofensivos à reputação dela (difamação)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Xingar ou ofender a dignidade dela (injúria)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046" y="1431627"/>
            <a:ext cx="5638659" cy="1475680"/>
          </a:xfrm>
          <a:prstGeom prst="roundRect">
            <a:avLst>
              <a:gd name="adj" fmla="val 4131"/>
            </a:avLst>
          </a:prstGeom>
          <a:solidFill>
            <a:srgbClr val="F4F3EC"/>
          </a:solidFill>
          <a:ln/>
        </p:spPr>
      </p:sp>
      <p:sp>
        <p:nvSpPr>
          <p:cNvPr id="9" name="Text 7"/>
          <p:cNvSpPr/>
          <p:nvPr/>
        </p:nvSpPr>
        <p:spPr>
          <a:xfrm>
            <a:off x="6400640" y="1664990"/>
            <a:ext cx="518147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Onde aparece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640" y="1971377"/>
            <a:ext cx="541006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Em conversas, em público e em redes sociais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0990" y="3027561"/>
            <a:ext cx="118107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A3C7B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REGISTRAR PRINTS E DATAS PODE AJUDAR A COMPROVAR A SITUAÇÃO.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384175"/>
            <a:ext cx="1181070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CONTEXTO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0990" y="613606"/>
            <a:ext cx="1142971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Violência doméstica e familiar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0990" y="1102717"/>
            <a:ext cx="1181070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Não é uma forma separada, e sim o contexto em que as formas do art. 7º podem acontecer: dentro da unidade doméstica, da família ou de uma relação íntima de afeto.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0990" y="1431627"/>
            <a:ext cx="5638659" cy="1229320"/>
          </a:xfrm>
          <a:prstGeom prst="roundRect">
            <a:avLst>
              <a:gd name="adj" fmla="val 4959"/>
            </a:avLst>
          </a:prstGeom>
          <a:solidFill>
            <a:srgbClr val="F4F3EC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1664990"/>
            <a:ext cx="518147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Quem pode ser agressor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1971377"/>
            <a:ext cx="5181470" cy="46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Companheiro, marido ou ex-companheiro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Familiares, como pais, irmãos ou filhos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046" y="1431627"/>
            <a:ext cx="5638659" cy="1229320"/>
          </a:xfrm>
          <a:prstGeom prst="roundRect">
            <a:avLst>
              <a:gd name="adj" fmla="val 4959"/>
            </a:avLst>
          </a:prstGeom>
          <a:solidFill>
            <a:srgbClr val="F4F3EC"/>
          </a:solidFill>
          <a:ln/>
        </p:spPr>
      </p:sp>
      <p:sp>
        <p:nvSpPr>
          <p:cNvPr id="9" name="Text 7"/>
          <p:cNvSpPr/>
          <p:nvPr/>
        </p:nvSpPr>
        <p:spPr>
          <a:xfrm>
            <a:off x="6400640" y="1664990"/>
            <a:ext cx="518147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Por que é difícil sair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640" y="1971377"/>
            <a:ext cx="5181470" cy="46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Dependência financeira e medo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Vínculos com filhos e a casa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0990" y="2781201"/>
            <a:ext cx="118107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A3C7B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 LEI MARIA DA PENHA SE APLICA INDEPENDENTEMENTE DA ORIENTAÇÃO SEXUAL DA MULHER.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384175"/>
            <a:ext cx="1181070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MANIFESTAÇÕES COMPLEMENTARES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0990" y="613606"/>
            <a:ext cx="1142971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Outras formas que merecem atenção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0990" y="1108670"/>
            <a:ext cx="118107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A3C7B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NÃO SÃO CATEGORIAS DO ART. 7º, MAS TAMBÉM CAUSAM DANOS.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0990" y="1383705"/>
            <a:ext cx="4686183" cy="1197570"/>
          </a:xfrm>
          <a:prstGeom prst="roundRect">
            <a:avLst>
              <a:gd name="adj" fmla="val 5090"/>
            </a:avLst>
          </a:prstGeom>
          <a:solidFill>
            <a:srgbClr val="F4F3EC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1617067"/>
            <a:ext cx="422899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Institucional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1923455"/>
            <a:ext cx="4228994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Falhas ou omissões de órgãos públicos no atendimento à mulher.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19569" y="1383705"/>
            <a:ext cx="6591135" cy="1197570"/>
          </a:xfrm>
          <a:prstGeom prst="roundRect">
            <a:avLst>
              <a:gd name="adj" fmla="val 5090"/>
            </a:avLst>
          </a:prstGeom>
          <a:solidFill>
            <a:srgbClr val="F4F3EC"/>
          </a:solidFill>
          <a:ln/>
        </p:spPr>
      </p:sp>
      <p:sp>
        <p:nvSpPr>
          <p:cNvPr id="9" name="Text 7"/>
          <p:cNvSpPr/>
          <p:nvPr/>
        </p:nvSpPr>
        <p:spPr>
          <a:xfrm>
            <a:off x="5448164" y="1617067"/>
            <a:ext cx="613394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Política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48164" y="1923455"/>
            <a:ext cx="6362541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Barreiras à participação e à candidatura de mulheres na vida pública.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0990" y="2733675"/>
            <a:ext cx="4686183" cy="1197570"/>
          </a:xfrm>
          <a:prstGeom prst="roundRect">
            <a:avLst>
              <a:gd name="adj" fmla="val 5090"/>
            </a:avLst>
          </a:prstGeom>
          <a:solidFill>
            <a:srgbClr val="F4F3EC"/>
          </a:solidFill>
          <a:ln/>
        </p:spPr>
      </p:sp>
      <p:sp>
        <p:nvSpPr>
          <p:cNvPr id="12" name="Text 10"/>
          <p:cNvSpPr/>
          <p:nvPr/>
        </p:nvSpPr>
        <p:spPr>
          <a:xfrm>
            <a:off x="609585" y="2967037"/>
            <a:ext cx="422899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Obstétrica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585" y="3273425"/>
            <a:ext cx="4228994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Desrespeito ou maus-tratos na gestação, no parto e no pós-parto.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19569" y="2733675"/>
            <a:ext cx="6591135" cy="1197570"/>
          </a:xfrm>
          <a:prstGeom prst="roundRect">
            <a:avLst>
              <a:gd name="adj" fmla="val 5090"/>
            </a:avLst>
          </a:prstGeom>
          <a:solidFill>
            <a:srgbClr val="F4F3EC"/>
          </a:solidFill>
          <a:ln/>
        </p:spPr>
      </p:sp>
      <p:sp>
        <p:nvSpPr>
          <p:cNvPr id="15" name="Text 13"/>
          <p:cNvSpPr/>
          <p:nvPr/>
        </p:nvSpPr>
        <p:spPr>
          <a:xfrm>
            <a:off x="5448164" y="2967037"/>
            <a:ext cx="613394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Digital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48164" y="3273425"/>
            <a:ext cx="6362541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Ameaças, perseguição e exposição de imagens em meios eletrônicos.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384175"/>
            <a:ext cx="1181070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ENCERRAMENTO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0990" y="613606"/>
            <a:ext cx="1142971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Situações podem se sobrepor, e buscar ajuda é possível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0990" y="1102717"/>
            <a:ext cx="1181070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Uma mesma situação pode envolver mais de uma forma de violência. Reconhecer o que está acontecendo não é culpa de ninguém.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0990" y="1431627"/>
            <a:ext cx="11429714" cy="707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Central de Atendimento à Mulher: </a:t>
            </a:r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E3ECE7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180</a:t>
            </a:r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(nacional e gratuita)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Em risco imediato: </a:t>
            </a:r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E3ECE7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190</a:t>
            </a:r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(Polícia Militar)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Procure a Delegacia da Mulher ou a Defensoria Pública da sua região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0990" y="2259211"/>
            <a:ext cx="118107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A3C7B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FONTE: LEI Nº 11.340/2006 E CANAIS OFICIAIS DO GOVERNO FEDERAL.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2026-10-17T13:49:09Z</dcterms:created>
  <dcterms:modified xsi:type="dcterms:W3CDTF">2026-10-17T13:49:09Z</dcterms:modified>
</cp:coreProperties>
</file>