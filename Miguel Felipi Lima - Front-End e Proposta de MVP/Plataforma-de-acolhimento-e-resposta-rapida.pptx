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Tenor Sans"/>
      <p:regular r:id="rId201314"/>
    </p:embeddedFont>
    <p:embeddedFont>
      <p:font typeface="Wix Madefor Text"/>
      <p:regular r:id="rId201315"/>
    </p:embeddedFont>
    <p:embeddedFont>
      <p:font typeface="Wix Madefor Text SemiBold"/>
      <p:regular r:id="rId201316"/>
    </p:embeddedFont>
    <p:embeddedFont>
      <p:font typeface="Wix Madefor Text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Apresente a plataforma como um produto integrado: uma experiência de apoio que orienta, acolhe e encaminha, sustentada por equipe, dados e documentação.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não é apenas uma tela ou um chatbot. Ele combina orientação, acolhimento, encaminhamento e os componentes técnicos necessários para sustentar essa jornada.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Comece pela origem da coordenação: a orientação de Álvaro Machado Júnior. Depois mostre como a equipe se distribui entre execução técnica, experiência visual e documentação.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frentes não são silos. O back-end sustenta o front-end, o chatbot depende dos dados, as imagens qualificam a experiência e o Readme mantém tudo compreensível e reproduzível.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banco não deve existir por si só. Cada entidade corresponde a uma etapa da jornada: entender a situação, apresentar opções, registrar escolhas e acompanhar o encaminhamento.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ponto do modelo é a simplicidade. As relações mais importantes partem da usuária e chegam aos registros e catálogos que o front-end precisa consultar.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um contrato inicial, não uma lista de funcionalidades já implementadas. A prioridade é dar ao front-end uma interface previsível, validada e segura para evoluir o MVP.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estrutura separa responsabilidades sem esconder as conexões. O repositório deve permitir que cada frente encontre seu lugar e que uma nova pessoa consiga instalar, entender e executar 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Privacidade precisa aparecer na arquitetura e na interface. O produto deve reduzir coleta, controlar acesso, registrar decisões e manter saídas de emergência visíveis, sem prometer substituir uma rede especializada.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Feche com uma sequência de execução. O MVP começa pela validação da jornada, passa pelo schema e pela API, chega à primeira tela e só avança depois de testar acessibilidade, privacidade e cenários de risco.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jpe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721407" cy="6858000"/>
          </a:xfrm>
          <a:prstGeom prst="rect">
            <a:avLst/>
          </a:prstGeom>
          <a:solidFill>
            <a:srgbClr val="9E4428"/>
          </a:solidFill>
          <a:ln/>
        </p:spPr>
      </p:sp>
      <p:sp>
        <p:nvSpPr>
          <p:cNvPr id="3" name="Text 1"/>
          <p:cNvSpPr/>
          <p:nvPr/>
        </p:nvSpPr>
        <p:spPr>
          <a:xfrm>
            <a:off x="431789" y="508000"/>
            <a:ext cx="7289618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PROPOSTA DE MVP · APOIO A MULHERES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1789" y="3285217"/>
            <a:ext cx="6857828" cy="2400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6000" spc="-60" kern="100" dirty="0">
                <a:solidFill>
                  <a:srgbClr val="FFFFFF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Plataforma de acolhimento e resposta rápida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1789" y="5830054"/>
            <a:ext cx="685782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Organograma da equipe e proposta de banco de dados para um front-end de apoio a mulheres em situação de violência.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6532796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VISÃO DO PRODUTO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90236"/>
            <a:ext cx="6024809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16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Um projeto integrado para orientar, acolher e encaminhar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1883628"/>
            <a:ext cx="6024809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proposta é transformar caminhos dispersos de ajuda em uma experiência simples, segura e compreensível.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2727420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9473" y="2739648"/>
            <a:ext cx="545332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Uma porta de entrada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079473" y="3125549"/>
            <a:ext cx="5453323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Centralizar informações e caminhos de ajuda.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3687461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9473" y="3699689"/>
            <a:ext cx="545332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Um único produto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1079473" y="4085590"/>
            <a:ext cx="545332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Conectar interface, chatbot, dados, imagens e documentação.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4910332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79473" y="4922560"/>
            <a:ext cx="5453323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Requisitos desde o início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1079473" y="5308461"/>
            <a:ext cx="545332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Tratar segurança, privacidade e clareza como parte do sistema.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507987" y="3528715"/>
            <a:ext cx="6024809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6" name="Shape 10"/>
          <p:cNvSpPr/>
          <p:nvPr/>
        </p:nvSpPr>
        <p:spPr>
          <a:xfrm>
            <a:off x="507987" y="4751586"/>
            <a:ext cx="6024809" cy="12700"/>
          </a:xfrm>
          <a:prstGeom prst="rect">
            <a:avLst/>
          </a:prstGeom>
          <a:solidFill>
            <a:srgbClr val="8CC3E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GOVERNANÇA E EQUIPE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90236"/>
            <a:ext cx="11175720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16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O organograma começa pela orientação do professor Álvaro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1883628"/>
            <a:ext cx="1168370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675D5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 orientação acadêmica organiza seis frentes que transformam a proposta em produto.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2255044"/>
            <a:ext cx="7224631" cy="406390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406400"/>
            <a:ext cx="11683708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FLUXO DE TRABALHO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688636"/>
            <a:ext cx="11175720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16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Seis frentes trabalham como um único fluxo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1549797"/>
            <a:ext cx="476238" cy="4762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7987" y="2149396"/>
            <a:ext cx="357277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Back-End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07987" y="2535297"/>
            <a:ext cx="3572778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Dayene Souza Silva e Jessica Paola Miranda Vitorino estruturam o back-end, as consultas e a arquitetura do banco de dados.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557" y="1549797"/>
            <a:ext cx="476238" cy="476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85557" y="2149396"/>
            <a:ext cx="3420481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Front-End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4385557" y="2535297"/>
            <a:ext cx="342048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Miguel Felipi da Silva desenvolve interfaces responsivas para a usuária.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831" y="1549797"/>
            <a:ext cx="476238" cy="4762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10831" y="2149396"/>
            <a:ext cx="3572877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Chatbot</a:t>
            </a:r>
            <a:endParaRPr lang="en-US" sz="1550" dirty="0"/>
          </a:p>
        </p:txBody>
      </p:sp>
      <p:sp>
        <p:nvSpPr>
          <p:cNvPr id="12" name="Text 7"/>
          <p:cNvSpPr/>
          <p:nvPr/>
        </p:nvSpPr>
        <p:spPr>
          <a:xfrm>
            <a:off x="8110831" y="2535297"/>
            <a:ext cx="3572877" cy="10513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Priscila Rodrigues, Brayan da Cruz Souza e Lavinia Rodrigues Vieira desenvolvem lógica, automações e experiência de suporte.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4342904"/>
            <a:ext cx="476238" cy="47625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7987" y="4942503"/>
            <a:ext cx="357277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Imagens</a:t>
            </a:r>
            <a:endParaRPr lang="en-US" sz="1550" dirty="0"/>
          </a:p>
        </p:txBody>
      </p:sp>
      <p:sp>
        <p:nvSpPr>
          <p:cNvPr id="15" name="Text 9"/>
          <p:cNvSpPr/>
          <p:nvPr/>
        </p:nvSpPr>
        <p:spPr>
          <a:xfrm>
            <a:off x="507987" y="5328404"/>
            <a:ext cx="357277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Julia Maria Morais Cardoso e Solange Maria Morais cuidam da criação, curadoria e tratamento visual.</a:t>
            </a:r>
            <a:endParaRPr lang="en-US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557" y="4342904"/>
            <a:ext cx="476238" cy="47625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385557" y="4942503"/>
            <a:ext cx="3420481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Readme</a:t>
            </a:r>
            <a:endParaRPr lang="en-US" sz="1550" dirty="0"/>
          </a:p>
        </p:txBody>
      </p:sp>
      <p:sp>
        <p:nvSpPr>
          <p:cNvPr id="18" name="Text 11"/>
          <p:cNvSpPr/>
          <p:nvPr/>
        </p:nvSpPr>
        <p:spPr>
          <a:xfrm>
            <a:off x="4385557" y="5328404"/>
            <a:ext cx="3420481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Helloa Sousa Monteiro e Talita Monteiro dos Santos organizam a documentação e os guias técnicos.</a:t>
            </a:r>
            <a:endParaRPr lang="en-US" sz="1500" dirty="0"/>
          </a:p>
        </p:txBody>
      </p:sp>
      <p:sp>
        <p:nvSpPr>
          <p:cNvPr id="19" name="Shape 12"/>
          <p:cNvSpPr/>
          <p:nvPr/>
        </p:nvSpPr>
        <p:spPr>
          <a:xfrm>
            <a:off x="8110831" y="4114304"/>
            <a:ext cx="3572877" cy="2225477"/>
          </a:xfrm>
          <a:prstGeom prst="rect">
            <a:avLst/>
          </a:prstGeom>
          <a:solidFill>
            <a:srgbClr val="F1EBE2"/>
          </a:solidFill>
          <a:ln/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9425" y="4342904"/>
            <a:ext cx="476238" cy="4762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39425" y="4942503"/>
            <a:ext cx="311568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Integração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8339425" y="5328404"/>
            <a:ext cx="3115688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Cada frente entrega insumos para a próxima e recebe retorno do produto.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PROPOSTA DE DOMÍNIO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90236"/>
            <a:ext cx="11175720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16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O banco de dados deve servir à jornada da usuária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1428512"/>
            <a:ext cx="7558791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 modelo começa pelas necessidades da pessoa e organiza apenas os dados necessários para orientar, registrar, acompanhar e publicar conteúdo.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2119908"/>
            <a:ext cx="476238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7987" y="2719506"/>
            <a:ext cx="357277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Usuária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07987" y="3105408"/>
            <a:ext cx="357277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Perfil mínimo, preferências de atendimento e consentimentos.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5557" y="2119908"/>
            <a:ext cx="476238" cy="4762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85557" y="2719506"/>
            <a:ext cx="3471280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Ocorrência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385557" y="3105408"/>
            <a:ext cx="347128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Relato, data, localização opcional, status e histórico.</a:t>
            </a:r>
            <a:endParaRPr lang="en-US" sz="15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1629" y="2119908"/>
            <a:ext cx="476238" cy="4762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161629" y="2719506"/>
            <a:ext cx="352207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Serviço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161629" y="3105408"/>
            <a:ext cx="352207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Rede de apoio, tipo de atendimento, contato e horário.</a:t>
            </a:r>
            <a:endParaRPr lang="en-US" sz="15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3930154"/>
            <a:ext cx="476238" cy="4762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07987" y="4529753"/>
            <a:ext cx="357277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Interação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507987" y="4915654"/>
            <a:ext cx="357277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Sessões do chatbot, mensagens e encaminhamentos.</a:t>
            </a:r>
            <a:endParaRPr lang="en-US" sz="15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5557" y="3930154"/>
            <a:ext cx="476238" cy="47625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385557" y="4529753"/>
            <a:ext cx="7298150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Conteúdo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4385557" y="4915654"/>
            <a:ext cx="72981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Orientações, imagens, categorias e versão publicada.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3794725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MODELO DE DADOS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90236"/>
            <a:ext cx="3286737" cy="182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16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Modelo de dados: relações simples para o front-end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2793861"/>
            <a:ext cx="3286737" cy="157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Uma usuária pode ter várias ocorrências e interações. Cada ocorrência pode gerar vários encaminhamentos para serviços. Conteúdos e serviços são filtrados por categoria e região.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9801" y="1972171"/>
            <a:ext cx="7431894" cy="2913559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5805" y="3250458"/>
            <a:ext cx="431040" cy="43105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1811" y="3250458"/>
            <a:ext cx="431039" cy="4310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936007" y="2113377"/>
            <a:ext cx="1357062" cy="199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200" spc="-6" kern="100" dirty="0">
                <a:solidFill>
                  <a:srgbClr val="3B342F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Usuária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10650995" y="2113377"/>
            <a:ext cx="1357062" cy="199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-6" kern="100" dirty="0">
                <a:solidFill>
                  <a:srgbClr val="3B342F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Ocorrência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10650995" y="4544615"/>
            <a:ext cx="1357062" cy="199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-6" kern="100" dirty="0">
                <a:solidFill>
                  <a:srgbClr val="3B342F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Encaminhamento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4936007" y="4544615"/>
            <a:ext cx="1357062" cy="199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200" spc="-6" kern="100" dirty="0">
                <a:solidFill>
                  <a:srgbClr val="3B342F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Consentimento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CONTRATO INICIAL · PROPOSTA DE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90236"/>
            <a:ext cx="11175720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16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Contrato de API para o front-end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7987" y="1428512"/>
            <a:ext cx="1168370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675D55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Endpoints sugeridos para conectar a primeira experiência de apoio ao back-end.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7987" y="1799927"/>
            <a:ext cx="8258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7987" y="2066627"/>
            <a:ext cx="3572679" cy="1905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7" name="Text 5"/>
          <p:cNvSpPr/>
          <p:nvPr/>
        </p:nvSpPr>
        <p:spPr>
          <a:xfrm>
            <a:off x="507987" y="2212201"/>
            <a:ext cx="357277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GET /servicos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7987" y="2598103"/>
            <a:ext cx="357277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Lista serviços por tipo, região e disponibilidade.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385557" y="1799927"/>
            <a:ext cx="8368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385557" y="2066627"/>
            <a:ext cx="3471280" cy="1905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1" name="Text 9"/>
          <p:cNvSpPr/>
          <p:nvPr/>
        </p:nvSpPr>
        <p:spPr>
          <a:xfrm>
            <a:off x="4385557" y="2212201"/>
            <a:ext cx="3471280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POST /ocorrencias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385557" y="2598103"/>
            <a:ext cx="3471280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Registra um relato com validação e consentimento.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61629" y="1799927"/>
            <a:ext cx="8439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161629" y="2066627"/>
            <a:ext cx="3521979" cy="1905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5" name="Text 13"/>
          <p:cNvSpPr/>
          <p:nvPr/>
        </p:nvSpPr>
        <p:spPr>
          <a:xfrm>
            <a:off x="8161629" y="2212201"/>
            <a:ext cx="352207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GET /orientacoes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161629" y="2598103"/>
            <a:ext cx="352207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Entrega conteúdos por categoria e idioma.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7987" y="3422848"/>
            <a:ext cx="8553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7987" y="3689548"/>
            <a:ext cx="3572679" cy="1905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9" name="Text 17"/>
          <p:cNvSpPr/>
          <p:nvPr/>
        </p:nvSpPr>
        <p:spPr>
          <a:xfrm>
            <a:off x="507987" y="3835122"/>
            <a:ext cx="3572778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POST /chat/sessoes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07987" y="4221024"/>
            <a:ext cx="3572778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Inicia uma sessão segura do chatbot.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385557" y="3422848"/>
            <a:ext cx="8431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385557" y="3689548"/>
            <a:ext cx="7298051" cy="1905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23" name="Text 21"/>
          <p:cNvSpPr/>
          <p:nvPr/>
        </p:nvSpPr>
        <p:spPr>
          <a:xfrm>
            <a:off x="4385557" y="3835122"/>
            <a:ext cx="7298150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GET /encaminhamentos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385557" y="4221024"/>
            <a:ext cx="729815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Acompanha o status de um encaminhamento autorizado.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11683708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REPOSITÓRIO · PROPOSTA DE MVP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90236"/>
            <a:ext cx="11175720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16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Estrutura sugerida do repositório no GitHub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6582" y="1574721"/>
            <a:ext cx="10718532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/frontend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6582" y="1960622"/>
            <a:ext cx="1094712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Páginas, componentes, rotas, serviços de API e validações.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6582" y="2509361"/>
            <a:ext cx="10718532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/backend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36582" y="2895263"/>
            <a:ext cx="1094712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Endpoints, regras de negócio, autenticação e migrations.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6582" y="3444002"/>
            <a:ext cx="10718532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/database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36582" y="3829903"/>
            <a:ext cx="1094712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Schema, seeds fictícios, diagramas e scripts de evolução.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36582" y="4378642"/>
            <a:ext cx="10718532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/docs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36582" y="4764544"/>
            <a:ext cx="1094712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README, decisões de arquitetura, guia de contribuição e manual de execução.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7987" y="5161359"/>
            <a:ext cx="11175720" cy="934641"/>
          </a:xfrm>
          <a:prstGeom prst="rect">
            <a:avLst/>
          </a:prstGeom>
          <a:solidFill>
            <a:srgbClr val="9E4428"/>
          </a:solidFill>
          <a:ln/>
        </p:spPr>
      </p:sp>
      <p:sp>
        <p:nvSpPr>
          <p:cNvPr id="13" name="Text 11"/>
          <p:cNvSpPr/>
          <p:nvPr/>
        </p:nvSpPr>
        <p:spPr>
          <a:xfrm>
            <a:off x="736582" y="5313283"/>
            <a:ext cx="10718532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/.env.example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36582" y="5699185"/>
            <a:ext cx="1094712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Variáveis necessárias, sem expor chaves reais.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7987" y="2351088"/>
            <a:ext cx="11175720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6" name="Shape 14"/>
          <p:cNvSpPr/>
          <p:nvPr/>
        </p:nvSpPr>
        <p:spPr>
          <a:xfrm>
            <a:off x="507987" y="3285728"/>
            <a:ext cx="11175720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7" name="Shape 15"/>
          <p:cNvSpPr/>
          <p:nvPr/>
        </p:nvSpPr>
        <p:spPr>
          <a:xfrm>
            <a:off x="507987" y="4220369"/>
            <a:ext cx="11175720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8" name="Shape 16"/>
          <p:cNvSpPr/>
          <p:nvPr/>
        </p:nvSpPr>
        <p:spPr>
          <a:xfrm>
            <a:off x="507987" y="5155009"/>
            <a:ext cx="11175720" cy="12700"/>
          </a:xfrm>
          <a:prstGeom prst="rect">
            <a:avLst/>
          </a:prstGeom>
          <a:solidFill>
            <a:srgbClr val="8CC3E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87" y="508000"/>
            <a:ext cx="6532796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REQUISITO DE PRODUTO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7987" y="790236"/>
            <a:ext cx="6024809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16" kern="100" dirty="0">
                <a:solidFill>
                  <a:srgbClr val="2A2521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Privacidade não é detalhe: é parte do produto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1992233"/>
            <a:ext cx="380990" cy="38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9473" y="1997928"/>
            <a:ext cx="545332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Coletar apenas o necessário e tornar campos sensíveis opcionais quando possível.</a:t>
            </a:r>
            <a:endParaRPr lang="en-US" sz="15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87" y="2746494"/>
            <a:ext cx="380990" cy="381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79473" y="2752189"/>
            <a:ext cx="545332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Separar dados identificáveis de relatos e limitar permissões por função.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987" y="3500755"/>
            <a:ext cx="380990" cy="3810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79473" y="3506450"/>
            <a:ext cx="545332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Usar dados fictícios no repositório público e nunca versionar segredos.</a:t>
            </a:r>
            <a:endParaRPr lang="en-US" sz="15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87" y="4255016"/>
            <a:ext cx="380990" cy="3810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79473" y="4260711"/>
            <a:ext cx="545332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Registrar consentimento, retenção e exclusão de forma auditável.</a:t>
            </a:r>
            <a:endParaRPr lang="en-US" sz="15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987" y="5009277"/>
            <a:ext cx="380990" cy="38100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079473" y="5014972"/>
            <a:ext cx="5453323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Exibir saídas de emergência e contatos oficiais sem substituir atendimento especializado.</a:t>
            </a:r>
            <a:endParaRPr lang="en-US" sz="15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7873" y="0"/>
            <a:ext cx="4693822" cy="6858000"/>
          </a:xfrm>
          <a:prstGeom prst="rect">
            <a:avLst/>
          </a:prstGeom>
        </p:spPr>
      </p:pic>
      <p:sp>
        <p:nvSpPr>
          <p:cNvPr id="15" name="Shape 7"/>
          <p:cNvSpPr/>
          <p:nvPr/>
        </p:nvSpPr>
        <p:spPr>
          <a:xfrm>
            <a:off x="507987" y="2625824"/>
            <a:ext cx="6024809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6" name="Shape 8"/>
          <p:cNvSpPr/>
          <p:nvPr/>
        </p:nvSpPr>
        <p:spPr>
          <a:xfrm>
            <a:off x="507987" y="3380085"/>
            <a:ext cx="6024809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7" name="Shape 9"/>
          <p:cNvSpPr/>
          <p:nvPr/>
        </p:nvSpPr>
        <p:spPr>
          <a:xfrm>
            <a:off x="507987" y="4134346"/>
            <a:ext cx="6024809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18" name="Shape 10"/>
          <p:cNvSpPr/>
          <p:nvPr/>
        </p:nvSpPr>
        <p:spPr>
          <a:xfrm>
            <a:off x="507987" y="4888607"/>
            <a:ext cx="6024809" cy="12700"/>
          </a:xfrm>
          <a:prstGeom prst="rect">
            <a:avLst/>
          </a:prstGeom>
          <a:solidFill>
            <a:srgbClr val="8CC3E6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70288" cy="6858000"/>
          </a:xfrm>
          <a:prstGeom prst="rect">
            <a:avLst/>
          </a:prstGeom>
          <a:solidFill>
            <a:srgbClr val="9E4428"/>
          </a:solidFill>
          <a:ln/>
        </p:spPr>
      </p:sp>
      <p:sp>
        <p:nvSpPr>
          <p:cNvPr id="3" name="Text 1"/>
          <p:cNvSpPr/>
          <p:nvPr/>
        </p:nvSpPr>
        <p:spPr>
          <a:xfrm>
            <a:off x="507987" y="508000"/>
            <a:ext cx="3962301" cy="192980"/>
          </a:xfrm>
          <a:prstGeom prst="rect">
            <a:avLst/>
          </a:prstGeom>
          <a:noFill/>
          <a:ln/>
        </p:spPr>
        <p:txBody>
          <a:bodyPr wrap="none" lIns="0" tIns="0" rIns="0" bIns="25399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spc="132" kern="100" dirty="0">
                <a:solidFill>
                  <a:srgbClr val="FFFFFF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CAMINHO ATÉ O MVP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7987" y="790236"/>
            <a:ext cx="3454314" cy="1820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16" kern="100" dirty="0">
                <a:solidFill>
                  <a:srgbClr val="FFFFFF"/>
                </a:solidFill>
                <a:latin typeface="Tenor Sans" pitchFamily="34" charset="0"/>
                <a:ea typeface="Tenor Sans" pitchFamily="34" charset="-122"/>
                <a:cs typeface="Tenor Sans" pitchFamily="34" charset="-120"/>
              </a:rPr>
              <a:t>Próximos passos para sair do desenho e chegar ao MVP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07987" y="2793861"/>
            <a:ext cx="3454314" cy="788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O próximo ciclo transforma decisões de produto em entregas testáveis, sem perder segurança e clareza.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978275" y="649982"/>
            <a:ext cx="825876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308864" y="647224"/>
            <a:ext cx="6374844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Validar o fluxo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308864" y="1033125"/>
            <a:ext cx="6374844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Confirmar a jornada da usuária e os campos mínimos com o professor Álvaro.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78275" y="1976041"/>
            <a:ext cx="836889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19877" y="1973282"/>
            <a:ext cx="6363831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Fechar o schema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319877" y="2359184"/>
            <a:ext cx="6363831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Criar migrations e dados fictícios para desenvolvimento e testes.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78275" y="3039269"/>
            <a:ext cx="843934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26921" y="3036510"/>
            <a:ext cx="6356786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Conectar a primeira tela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26921" y="3422412"/>
            <a:ext cx="6356786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Publicar o contrato de API e ligar o front-end ao back-end.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78275" y="4102497"/>
            <a:ext cx="855343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38331" y="4099739"/>
            <a:ext cx="6345376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Testar cenários de risco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338331" y="4485640"/>
            <a:ext cx="6345376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Verificar acessibilidade, privacidade, responsividade e comportamento em situações críticas.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78275" y="5428655"/>
            <a:ext cx="843140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500" dirty="0">
                <a:solidFill>
                  <a:srgbClr val="2F6E96"/>
                </a:solidFill>
                <a:latin typeface="Wix Madefor Text SemiBold" pitchFamily="34" charset="0"/>
                <a:ea typeface="Wix Madefor Text SemiBold" pitchFamily="34" charset="-122"/>
                <a:cs typeface="Wix Madefor Text SemiBold" pitchFamily="34" charset="-120"/>
              </a:rPr>
              <a:t>05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326128" y="5425896"/>
            <a:ext cx="6357580" cy="255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dirty="0">
                <a:solidFill>
                  <a:srgbClr val="2A2521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Documentar e dividir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26128" y="5811798"/>
            <a:ext cx="6357580" cy="2628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B342F"/>
                </a:solidFill>
                <a:latin typeface="Wix Madefor Text" pitchFamily="34" charset="0"/>
                <a:ea typeface="Wix Madefor Text" pitchFamily="34" charset="-122"/>
                <a:cs typeface="Wix Madefor Text" pitchFamily="34" charset="-120"/>
              </a:rPr>
              <a:t>Finalizar a instalação e abrir issues por frente de trabalho.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78275" y="1827709"/>
            <a:ext cx="6705432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22" name="Shape 20"/>
          <p:cNvSpPr/>
          <p:nvPr/>
        </p:nvSpPr>
        <p:spPr>
          <a:xfrm>
            <a:off x="4978275" y="2890937"/>
            <a:ext cx="6705432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23" name="Shape 21"/>
          <p:cNvSpPr/>
          <p:nvPr/>
        </p:nvSpPr>
        <p:spPr>
          <a:xfrm>
            <a:off x="4978275" y="3954165"/>
            <a:ext cx="6705432" cy="12700"/>
          </a:xfrm>
          <a:prstGeom prst="rect">
            <a:avLst/>
          </a:prstGeom>
          <a:solidFill>
            <a:srgbClr val="8CC3E6"/>
          </a:solidFill>
          <a:ln/>
        </p:spPr>
      </p:sp>
      <p:sp>
        <p:nvSpPr>
          <p:cNvPr id="24" name="Shape 22"/>
          <p:cNvSpPr/>
          <p:nvPr/>
        </p:nvSpPr>
        <p:spPr>
          <a:xfrm>
            <a:off x="4978275" y="5280323"/>
            <a:ext cx="6705432" cy="12700"/>
          </a:xfrm>
          <a:prstGeom prst="rect">
            <a:avLst/>
          </a:prstGeom>
          <a:solidFill>
            <a:srgbClr val="8CC3E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2026-10-17T13:56:12Z</dcterms:created>
  <dcterms:modified xsi:type="dcterms:W3CDTF">2026-10-17T13:56:12Z</dcterms:modified>
</cp:coreProperties>
</file>