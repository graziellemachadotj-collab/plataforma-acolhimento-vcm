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8763A"/>
        </a:solidFill>
      </p:bgPr>
    </p:bg>
    <p:spTree>
      <p:nvGrpSpPr>
        <p:cNvPr id="1" name=""/>
        <p:cNvGrpSpPr/>
        <p:nvPr/>
      </p:nvGrpSpPr>
      <p:grpSpPr>
        <a:xfrm>
          <a:off x="0" y="0"/>
          <a:ext cx="0" cy="0"/>
          <a:chOff x="0" y="0"/>
          <a:chExt cx="0" cy="0"/>
        </a:xfrm>
      </p:grpSpPr>
      <p:sp>
        <p:nvSpPr>
          <p:cNvPr id="2" name="Shape 0"/>
          <p:cNvSpPr/>
          <p:nvPr/>
        </p:nvSpPr>
        <p:spPr>
          <a:xfrm>
            <a:off x="365760" y="274320"/>
            <a:ext cx="8412480" cy="4572000"/>
          </a:xfrm>
          <a:prstGeom prst="roundRect">
            <a:avLst>
              <a:gd name="adj" fmla="val 6000"/>
            </a:avLst>
          </a:prstGeom>
          <a:solidFill>
            <a:srgbClr val="FAF5F0"/>
          </a:solidFill>
          <a:ln w="12700">
            <a:solidFill>
              <a:srgbClr val="FAF5F0"/>
            </a:solidFill>
            <a:prstDash val="solid"/>
          </a:ln>
        </p:spPr>
        <p:txBody>
          <a:bodyPr/>
          <a:p/>
        </p:txBody>
      </p:sp>
      <p:sp>
        <p:nvSpPr>
          <p:cNvPr id="3" name="Shape 1"/>
          <p:cNvSpPr/>
          <p:nvPr/>
        </p:nvSpPr>
        <p:spPr>
          <a:xfrm>
            <a:off x="731520" y="548640"/>
            <a:ext cx="2377440" cy="91440"/>
          </a:xfrm>
          <a:prstGeom prst="roundRect">
            <a:avLst>
              <a:gd name="adj" fmla="val 50000"/>
            </a:avLst>
          </a:prstGeom>
          <a:solidFill>
            <a:srgbClr val="E8863F"/>
          </a:solidFill>
          <a:ln w="12700">
            <a:solidFill>
              <a:srgbClr val="E8863F"/>
            </a:solidFill>
            <a:prstDash val="solid"/>
          </a:ln>
        </p:spPr>
        <p:txBody>
          <a:bodyPr/>
          <a:p/>
        </p:txBody>
      </p:sp>
      <p:sp>
        <p:nvSpPr>
          <p:cNvPr id="4" name="Shape 2"/>
          <p:cNvSpPr/>
          <p:nvPr/>
        </p:nvSpPr>
        <p:spPr>
          <a:xfrm>
            <a:off x="320040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5" name="Shape 3"/>
          <p:cNvSpPr/>
          <p:nvPr/>
        </p:nvSpPr>
        <p:spPr>
          <a:xfrm>
            <a:off x="566928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6" name="Shape 4"/>
          <p:cNvSpPr/>
          <p:nvPr/>
        </p:nvSpPr>
        <p:spPr>
          <a:xfrm>
            <a:off x="365760" y="777240"/>
            <a:ext cx="8412480" cy="1371600"/>
          </a:xfrm>
          <a:prstGeom prst="rect">
            <a:avLst/>
          </a:prstGeom>
          <a:solidFill>
            <a:srgbClr val="8A5A34"/>
          </a:solidFill>
          <a:ln w="12700">
            <a:solidFill>
              <a:srgbClr val="8A5A34"/>
            </a:solidFill>
            <a:prstDash val="solid"/>
          </a:ln>
        </p:spPr>
        <p:txBody>
          <a:bodyPr/>
          <a:p/>
        </p:txBody>
      </p:sp>
      <p:sp>
        <p:nvSpPr>
          <p:cNvPr id="7" name="Shape 5"/>
          <p:cNvSpPr/>
          <p:nvPr/>
        </p:nvSpPr>
        <p:spPr>
          <a:xfrm>
            <a:off x="731520" y="548640"/>
            <a:ext cx="2377440" cy="91440"/>
          </a:xfrm>
          <a:prstGeom prst="roundRect">
            <a:avLst>
              <a:gd name="adj" fmla="val 50000"/>
            </a:avLst>
          </a:prstGeom>
          <a:solidFill>
            <a:srgbClr val="E8863F"/>
          </a:solidFill>
          <a:ln w="12700">
            <a:solidFill>
              <a:srgbClr val="E8863F"/>
            </a:solidFill>
            <a:prstDash val="solid"/>
          </a:ln>
        </p:spPr>
        <p:txBody>
          <a:bodyPr/>
          <a:p/>
        </p:txBody>
      </p:sp>
      <p:sp>
        <p:nvSpPr>
          <p:cNvPr id="8" name="Shape 6"/>
          <p:cNvSpPr/>
          <p:nvPr/>
        </p:nvSpPr>
        <p:spPr>
          <a:xfrm>
            <a:off x="320040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9" name="Shape 7"/>
          <p:cNvSpPr/>
          <p:nvPr/>
        </p:nvSpPr>
        <p:spPr>
          <a:xfrm>
            <a:off x="566928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10" name="Text 8"/>
          <p:cNvSpPr txBox="1"/>
          <p:nvPr/>
        </p:nvSpPr>
        <p:spPr>
          <a:xfrm>
            <a:off x="731520" y="2468880"/>
            <a:ext cx="7680960" cy="914400"/>
          </a:xfrm>
          <a:prstGeom prst="rect">
            <a:avLst/>
          </a:prstGeom>
          <a:noFill/>
          <a:ln/>
        </p:spPr>
        <p:txBody>
          <a:bodyPr wrap="square" lIns="0" tIns="0" rIns="0" bIns="0" rtlCol="0" anchor="t"/>
          <a:lstStyle/>
          <a:p>
            <a:pPr indent="0" marL="0">
              <a:buNone/>
            </a:pPr>
            <a:r>
              <a:rPr lang="en-US" sz="3000" dirty="0">
                <a:solidFill>
                  <a:srgbClr val="2A1D1A"/>
                </a:solidFill>
                <a:latin typeface="Georgia" pitchFamily="34" charset="0"/>
                <a:ea typeface="Georgia" pitchFamily="34" charset="-122"/>
                <a:cs typeface="Georgia" pitchFamily="34" charset="-120"/>
              </a:rPr>
              <a:t>Acolhimento e Orientação para Mulheres</a:t>
            </a:r>
            <a:endParaRPr lang="en-US" sz="3000" dirty="0"/>
          </a:p>
        </p:txBody>
      </p:sp>
      <p:sp>
        <p:nvSpPr>
          <p:cNvPr id="11" name="Text 9"/>
          <p:cNvSpPr txBox="1"/>
          <p:nvPr/>
        </p:nvSpPr>
        <p:spPr>
          <a:xfrm>
            <a:off x="731520" y="3657600"/>
            <a:ext cx="7680960" cy="457200"/>
          </a:xfrm>
          <a:prstGeom prst="rect">
            <a:avLst/>
          </a:prstGeom>
          <a:noFill/>
          <a:ln/>
        </p:spPr>
        <p:txBody>
          <a:bodyPr wrap="square" lIns="0" tIns="0" rIns="0" bIns="0" rtlCol="0" anchor="t"/>
          <a:lstStyle/>
          <a:p>
            <a:pPr indent="0" marL="0">
              <a:buNone/>
            </a:pPr>
            <a:r>
              <a:rPr lang="en-US" sz="1300" dirty="0">
                <a:solidFill>
                  <a:srgbClr val="5A4A44"/>
                </a:solidFill>
                <a:latin typeface="Courier New" pitchFamily="34" charset="0"/>
                <a:ea typeface="Courier New" pitchFamily="34" charset="-122"/>
                <a:cs typeface="Courier New" pitchFamily="34" charset="-120"/>
              </a:rPr>
              <a:t>Um guia seguro, sem julgamentos e focado na sua proteção.</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B8763A"/>
        </a:solidFill>
      </p:bgPr>
    </p:bg>
    <p:spTree>
      <p:nvGrpSpPr>
        <p:cNvPr id="1" name=""/>
        <p:cNvGrpSpPr/>
        <p:nvPr/>
      </p:nvGrpSpPr>
      <p:grpSpPr>
        <a:xfrm>
          <a:off x="0" y="0"/>
          <a:ext cx="0" cy="0"/>
          <a:chOff x="0" y="0"/>
          <a:chExt cx="0" cy="0"/>
        </a:xfrm>
      </p:grpSpPr>
      <p:sp>
        <p:nvSpPr>
          <p:cNvPr id="2" name="Shape 0"/>
          <p:cNvSpPr/>
          <p:nvPr/>
        </p:nvSpPr>
        <p:spPr>
          <a:xfrm>
            <a:off x="365760" y="274320"/>
            <a:ext cx="8412480" cy="4572000"/>
          </a:xfrm>
          <a:prstGeom prst="roundRect">
            <a:avLst>
              <a:gd name="adj" fmla="val 6000"/>
            </a:avLst>
          </a:prstGeom>
          <a:solidFill>
            <a:srgbClr val="3F2F2D"/>
          </a:solidFill>
          <a:ln w="12700">
            <a:solidFill>
              <a:srgbClr val="3F2F2D"/>
            </a:solidFill>
            <a:prstDash val="solid"/>
          </a:ln>
        </p:spPr>
        <p:txBody>
          <a:bodyPr/>
          <a:p/>
        </p:txBody>
      </p:sp>
      <p:sp>
        <p:nvSpPr>
          <p:cNvPr id="3" name="Shape 1"/>
          <p:cNvSpPr/>
          <p:nvPr/>
        </p:nvSpPr>
        <p:spPr>
          <a:xfrm>
            <a:off x="731520" y="548640"/>
            <a:ext cx="2377440" cy="91440"/>
          </a:xfrm>
          <a:prstGeom prst="roundRect">
            <a:avLst>
              <a:gd name="adj" fmla="val 50000"/>
            </a:avLst>
          </a:prstGeom>
          <a:solidFill>
            <a:srgbClr val="E8863F"/>
          </a:solidFill>
          <a:ln w="12700">
            <a:solidFill>
              <a:srgbClr val="E8863F"/>
            </a:solidFill>
            <a:prstDash val="solid"/>
          </a:ln>
        </p:spPr>
        <p:txBody>
          <a:bodyPr/>
          <a:p/>
        </p:txBody>
      </p:sp>
      <p:sp>
        <p:nvSpPr>
          <p:cNvPr id="4" name="Shape 2"/>
          <p:cNvSpPr/>
          <p:nvPr/>
        </p:nvSpPr>
        <p:spPr>
          <a:xfrm>
            <a:off x="3200400" y="548640"/>
            <a:ext cx="2377440" cy="91440"/>
          </a:xfrm>
          <a:prstGeom prst="roundRect">
            <a:avLst>
              <a:gd name="adj" fmla="val 50000"/>
            </a:avLst>
          </a:prstGeom>
          <a:solidFill>
            <a:srgbClr val="7A6C68"/>
          </a:solidFill>
          <a:ln w="12700">
            <a:solidFill>
              <a:srgbClr val="7A6C68"/>
            </a:solidFill>
            <a:prstDash val="solid"/>
          </a:ln>
        </p:spPr>
        <p:txBody>
          <a:bodyPr/>
          <a:p/>
        </p:txBody>
      </p:sp>
      <p:sp>
        <p:nvSpPr>
          <p:cNvPr id="5" name="Shape 3"/>
          <p:cNvSpPr/>
          <p:nvPr/>
        </p:nvSpPr>
        <p:spPr>
          <a:xfrm>
            <a:off x="5669280" y="548640"/>
            <a:ext cx="2377440" cy="91440"/>
          </a:xfrm>
          <a:prstGeom prst="roundRect">
            <a:avLst>
              <a:gd name="adj" fmla="val 50000"/>
            </a:avLst>
          </a:prstGeom>
          <a:solidFill>
            <a:srgbClr val="7A6C68"/>
          </a:solidFill>
          <a:ln w="12700">
            <a:solidFill>
              <a:srgbClr val="7A6C68"/>
            </a:solidFill>
            <a:prstDash val="solid"/>
          </a:ln>
        </p:spPr>
        <p:txBody>
          <a:bodyPr/>
          <a:p/>
        </p:txBody>
      </p:sp>
      <p:sp>
        <p:nvSpPr>
          <p:cNvPr id="6" name="Text 4"/>
          <p:cNvSpPr txBox="1"/>
          <p:nvPr/>
        </p:nvSpPr>
        <p:spPr>
          <a:xfrm>
            <a:off x="822960" y="1097280"/>
            <a:ext cx="3657600" cy="1188720"/>
          </a:xfrm>
          <a:prstGeom prst="rect">
            <a:avLst/>
          </a:prstGeom>
          <a:noFill/>
          <a:ln/>
        </p:spPr>
        <p:txBody>
          <a:bodyPr wrap="square" lIns="0" tIns="0" rIns="0" bIns="0" rtlCol="0" anchor="t"/>
          <a:lstStyle/>
          <a:p>
            <a:pPr indent="0" marL="0">
              <a:buNone/>
            </a:pPr>
            <a:r>
              <a:rPr lang="en-US" sz="6400" b="1" dirty="0">
                <a:solidFill>
                  <a:srgbClr val="F3EBE4"/>
                </a:solidFill>
                <a:latin typeface="Courier New" pitchFamily="34" charset="0"/>
                <a:ea typeface="Courier New" pitchFamily="34" charset="-122"/>
                <a:cs typeface="Courier New" pitchFamily="34" charset="-120"/>
              </a:rPr>
              <a:t>01</a:t>
            </a:r>
            <a:endParaRPr lang="en-US" sz="6400" dirty="0"/>
          </a:p>
        </p:txBody>
      </p:sp>
      <p:sp>
        <p:nvSpPr>
          <p:cNvPr id="7" name="Text 5"/>
          <p:cNvSpPr txBox="1"/>
          <p:nvPr/>
        </p:nvSpPr>
        <p:spPr>
          <a:xfrm>
            <a:off x="822960" y="2377440"/>
            <a:ext cx="7498080" cy="822960"/>
          </a:xfrm>
          <a:prstGeom prst="rect">
            <a:avLst/>
          </a:prstGeom>
          <a:noFill/>
          <a:ln/>
        </p:spPr>
        <p:txBody>
          <a:bodyPr wrap="square" lIns="0" tIns="0" rIns="0" bIns="0" rtlCol="0" anchor="t"/>
          <a:lstStyle/>
          <a:p>
            <a:pPr indent="0" marL="0">
              <a:buNone/>
            </a:pPr>
            <a:r>
              <a:rPr lang="en-US" sz="3400" dirty="0">
                <a:solidFill>
                  <a:srgbClr val="F3EBE4"/>
                </a:solidFill>
                <a:latin typeface="Georgia" pitchFamily="34" charset="0"/>
                <a:ea typeface="Georgia" pitchFamily="34" charset="-122"/>
                <a:cs typeface="Georgia" pitchFamily="34" charset="-120"/>
              </a:rPr>
              <a:t>Segurança Imediata</a:t>
            </a:r>
            <a:endParaRPr lang="en-US" sz="3400" dirty="0"/>
          </a:p>
        </p:txBody>
      </p:sp>
      <p:sp>
        <p:nvSpPr>
          <p:cNvPr id="8" name="Text 6"/>
          <p:cNvSpPr txBox="1"/>
          <p:nvPr/>
        </p:nvSpPr>
        <p:spPr>
          <a:xfrm>
            <a:off x="822960" y="3474720"/>
            <a:ext cx="7315200" cy="457200"/>
          </a:xfrm>
          <a:prstGeom prst="rect">
            <a:avLst/>
          </a:prstGeom>
          <a:noFill/>
          <a:ln/>
        </p:spPr>
        <p:txBody>
          <a:bodyPr wrap="square" lIns="0" tIns="0" rIns="0" bIns="0" rtlCol="0" anchor="t"/>
          <a:lstStyle/>
          <a:p>
            <a:pPr indent="0" marL="0">
              <a:buNone/>
            </a:pPr>
            <a:r>
              <a:rPr lang="en-US" sz="1300" dirty="0">
                <a:solidFill>
                  <a:srgbClr val="D9CBBF"/>
                </a:solidFill>
                <a:latin typeface="Courier New" pitchFamily="34" charset="0"/>
                <a:ea typeface="Courier New" pitchFamily="34" charset="-122"/>
                <a:cs typeface="Courier New" pitchFamily="34" charset="-120"/>
              </a:rPr>
              <a:t>Priorize sua vida: contatos de emergência e canais de proteção.</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B8763A"/>
        </a:solidFill>
      </p:bgPr>
    </p:bg>
    <p:spTree>
      <p:nvGrpSpPr>
        <p:cNvPr id="1" name=""/>
        <p:cNvGrpSpPr/>
        <p:nvPr/>
      </p:nvGrpSpPr>
      <p:grpSpPr>
        <a:xfrm>
          <a:off x="0" y="0"/>
          <a:ext cx="0" cy="0"/>
          <a:chOff x="0" y="0"/>
          <a:chExt cx="0" cy="0"/>
        </a:xfrm>
      </p:grpSpPr>
      <p:sp>
        <p:nvSpPr>
          <p:cNvPr id="2" name="Shape 0"/>
          <p:cNvSpPr/>
          <p:nvPr/>
        </p:nvSpPr>
        <p:spPr>
          <a:xfrm>
            <a:off x="365760" y="274320"/>
            <a:ext cx="8412480" cy="4572000"/>
          </a:xfrm>
          <a:prstGeom prst="roundRect">
            <a:avLst>
              <a:gd name="adj" fmla="val 6000"/>
            </a:avLst>
          </a:prstGeom>
          <a:solidFill>
            <a:srgbClr val="FAF5F0"/>
          </a:solidFill>
          <a:ln w="12700">
            <a:solidFill>
              <a:srgbClr val="FAF5F0"/>
            </a:solidFill>
            <a:prstDash val="solid"/>
          </a:ln>
        </p:spPr>
        <p:txBody>
          <a:bodyPr/>
          <a:p/>
        </p:txBody>
      </p:sp>
      <p:sp>
        <p:nvSpPr>
          <p:cNvPr id="3" name="Shape 1"/>
          <p:cNvSpPr/>
          <p:nvPr/>
        </p:nvSpPr>
        <p:spPr>
          <a:xfrm>
            <a:off x="731520" y="548640"/>
            <a:ext cx="2377440" cy="91440"/>
          </a:xfrm>
          <a:prstGeom prst="roundRect">
            <a:avLst>
              <a:gd name="adj" fmla="val 50000"/>
            </a:avLst>
          </a:prstGeom>
          <a:solidFill>
            <a:srgbClr val="E8863F"/>
          </a:solidFill>
          <a:ln w="12700">
            <a:solidFill>
              <a:srgbClr val="E8863F"/>
            </a:solidFill>
            <a:prstDash val="solid"/>
          </a:ln>
        </p:spPr>
        <p:txBody>
          <a:bodyPr/>
          <a:p/>
        </p:txBody>
      </p:sp>
      <p:sp>
        <p:nvSpPr>
          <p:cNvPr id="4" name="Shape 2"/>
          <p:cNvSpPr/>
          <p:nvPr/>
        </p:nvSpPr>
        <p:spPr>
          <a:xfrm>
            <a:off x="320040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5" name="Shape 3"/>
          <p:cNvSpPr/>
          <p:nvPr/>
        </p:nvSpPr>
        <p:spPr>
          <a:xfrm>
            <a:off x="566928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6" name="Text 4"/>
          <p:cNvSpPr txBox="1"/>
          <p:nvPr/>
        </p:nvSpPr>
        <p:spPr>
          <a:xfrm>
            <a:off x="822960" y="1005840"/>
            <a:ext cx="4754880" cy="914400"/>
          </a:xfrm>
          <a:prstGeom prst="rect">
            <a:avLst/>
          </a:prstGeom>
          <a:noFill/>
          <a:ln/>
        </p:spPr>
        <p:txBody>
          <a:bodyPr wrap="square" lIns="0" tIns="0" rIns="0" bIns="0" rtlCol="0" anchor="t"/>
          <a:lstStyle/>
          <a:p>
            <a:pPr indent="0" marL="0">
              <a:buNone/>
            </a:pPr>
            <a:r>
              <a:rPr lang="en-US" sz="2400" dirty="0">
                <a:solidFill>
                  <a:srgbClr val="2A1D1A"/>
                </a:solidFill>
                <a:latin typeface="Georgia" pitchFamily="34" charset="0"/>
                <a:ea typeface="Georgia" pitchFamily="34" charset="-122"/>
                <a:cs typeface="Georgia" pitchFamily="34" charset="-120"/>
              </a:rPr>
              <a:t>Se houver risco agora, peça ajuda</a:t>
            </a:r>
            <a:endParaRPr lang="en-US" sz="2400" dirty="0"/>
          </a:p>
        </p:txBody>
      </p:sp>
      <p:sp>
        <p:nvSpPr>
          <p:cNvPr id="7" name="Text 5"/>
          <p:cNvSpPr txBox="1"/>
          <p:nvPr/>
        </p:nvSpPr>
        <p:spPr>
          <a:xfrm>
            <a:off x="822960" y="1828800"/>
            <a:ext cx="4754880" cy="2743200"/>
          </a:xfrm>
          <a:prstGeom prst="rect">
            <a:avLst/>
          </a:prstGeom>
          <a:noFill/>
          <a:ln/>
        </p:spPr>
        <p:txBody>
          <a:bodyPr wrap="square" lIns="0" tIns="0" rIns="0" bIns="0" rtlCol="0" anchor="t"/>
          <a:lstStyle/>
          <a:p>
            <a:pPr indent="0" marL="0">
              <a:lnSpc>
                <a:spcPct val="120000"/>
              </a:lnSpc>
              <a:buNone/>
            </a:pPr>
            <a:r>
              <a:rPr lang="en-US" sz="1100" dirty="0">
                <a:solidFill>
                  <a:srgbClr val="2A1D1A"/>
                </a:solidFill>
                <a:latin typeface="Courier New" pitchFamily="34" charset="0"/>
                <a:ea typeface="Courier New" pitchFamily="34" charset="-122"/>
                <a:cs typeface="Courier New" pitchFamily="34" charset="-120"/>
              </a:rPr>
              <a:t>Se você estiver em perigo imediato ou presenciando uma situação de violência agora, ligue imediatamente para o 190. Para buscar orientação, tirar dúvidas sobre seus direitos ou conhecer a rede de apoio disponível, você pode ligar para o 180. Estes canais funcionam 24 horas por dia e são gratuitos.</a:t>
            </a:r>
            <a:endParaRPr lang="en-US" sz="1100" dirty="0"/>
          </a:p>
        </p:txBody>
      </p:sp>
      <p:sp>
        <p:nvSpPr>
          <p:cNvPr id="8" name="Shape 6"/>
          <p:cNvSpPr/>
          <p:nvPr/>
        </p:nvSpPr>
        <p:spPr>
          <a:xfrm>
            <a:off x="5989320" y="914400"/>
            <a:ext cx="2788920" cy="3931920"/>
          </a:xfrm>
          <a:prstGeom prst="rect">
            <a:avLst/>
          </a:prstGeom>
          <a:solidFill>
            <a:srgbClr val="7A4A2A"/>
          </a:solidFill>
          <a:ln w="12700">
            <a:solidFill>
              <a:srgbClr val="7A4A2A"/>
            </a:solidFill>
            <a:prstDash val="solid"/>
          </a:ln>
        </p:spPr>
        <p:txBody>
          <a:body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B8763A"/>
        </a:solidFill>
      </p:bgPr>
    </p:bg>
    <p:spTree>
      <p:nvGrpSpPr>
        <p:cNvPr id="1" name=""/>
        <p:cNvGrpSpPr/>
        <p:nvPr/>
      </p:nvGrpSpPr>
      <p:grpSpPr>
        <a:xfrm>
          <a:off x="0" y="0"/>
          <a:ext cx="0" cy="0"/>
          <a:chOff x="0" y="0"/>
          <a:chExt cx="0" cy="0"/>
        </a:xfrm>
      </p:grpSpPr>
      <p:sp>
        <p:nvSpPr>
          <p:cNvPr id="2" name="Shape 0"/>
          <p:cNvSpPr/>
          <p:nvPr/>
        </p:nvSpPr>
        <p:spPr>
          <a:xfrm>
            <a:off x="365760" y="274320"/>
            <a:ext cx="8412480" cy="4572000"/>
          </a:xfrm>
          <a:prstGeom prst="roundRect">
            <a:avLst>
              <a:gd name="adj" fmla="val 6000"/>
            </a:avLst>
          </a:prstGeom>
          <a:solidFill>
            <a:srgbClr val="3F2F2D"/>
          </a:solidFill>
          <a:ln w="12700">
            <a:solidFill>
              <a:srgbClr val="3F2F2D"/>
            </a:solidFill>
            <a:prstDash val="solid"/>
          </a:ln>
        </p:spPr>
        <p:txBody>
          <a:bodyPr/>
          <a:p/>
        </p:txBody>
      </p:sp>
      <p:sp>
        <p:nvSpPr>
          <p:cNvPr id="3" name="Shape 1"/>
          <p:cNvSpPr/>
          <p:nvPr/>
        </p:nvSpPr>
        <p:spPr>
          <a:xfrm>
            <a:off x="731520" y="548640"/>
            <a:ext cx="2377440" cy="91440"/>
          </a:xfrm>
          <a:prstGeom prst="roundRect">
            <a:avLst>
              <a:gd name="adj" fmla="val 50000"/>
            </a:avLst>
          </a:prstGeom>
          <a:solidFill>
            <a:srgbClr val="7A6C68"/>
          </a:solidFill>
          <a:ln w="12700">
            <a:solidFill>
              <a:srgbClr val="7A6C68"/>
            </a:solidFill>
            <a:prstDash val="solid"/>
          </a:ln>
        </p:spPr>
        <p:txBody>
          <a:bodyPr/>
          <a:p/>
        </p:txBody>
      </p:sp>
      <p:sp>
        <p:nvSpPr>
          <p:cNvPr id="4" name="Shape 2"/>
          <p:cNvSpPr/>
          <p:nvPr/>
        </p:nvSpPr>
        <p:spPr>
          <a:xfrm>
            <a:off x="3200400" y="548640"/>
            <a:ext cx="2377440" cy="91440"/>
          </a:xfrm>
          <a:prstGeom prst="roundRect">
            <a:avLst>
              <a:gd name="adj" fmla="val 50000"/>
            </a:avLst>
          </a:prstGeom>
          <a:solidFill>
            <a:srgbClr val="E8863F"/>
          </a:solidFill>
          <a:ln w="12700">
            <a:solidFill>
              <a:srgbClr val="E8863F"/>
            </a:solidFill>
            <a:prstDash val="solid"/>
          </a:ln>
        </p:spPr>
        <p:txBody>
          <a:bodyPr/>
          <a:p/>
        </p:txBody>
      </p:sp>
      <p:sp>
        <p:nvSpPr>
          <p:cNvPr id="5" name="Shape 3"/>
          <p:cNvSpPr/>
          <p:nvPr/>
        </p:nvSpPr>
        <p:spPr>
          <a:xfrm>
            <a:off x="5669280" y="548640"/>
            <a:ext cx="2377440" cy="91440"/>
          </a:xfrm>
          <a:prstGeom prst="roundRect">
            <a:avLst>
              <a:gd name="adj" fmla="val 50000"/>
            </a:avLst>
          </a:prstGeom>
          <a:solidFill>
            <a:srgbClr val="7A6C68"/>
          </a:solidFill>
          <a:ln w="12700">
            <a:solidFill>
              <a:srgbClr val="7A6C68"/>
            </a:solidFill>
            <a:prstDash val="solid"/>
          </a:ln>
        </p:spPr>
        <p:txBody>
          <a:bodyPr/>
          <a:p/>
        </p:txBody>
      </p:sp>
      <p:sp>
        <p:nvSpPr>
          <p:cNvPr id="6" name="Text 4"/>
          <p:cNvSpPr txBox="1"/>
          <p:nvPr/>
        </p:nvSpPr>
        <p:spPr>
          <a:xfrm>
            <a:off x="822960" y="1097280"/>
            <a:ext cx="3657600" cy="1188720"/>
          </a:xfrm>
          <a:prstGeom prst="rect">
            <a:avLst/>
          </a:prstGeom>
          <a:noFill/>
          <a:ln/>
        </p:spPr>
        <p:txBody>
          <a:bodyPr wrap="square" lIns="0" tIns="0" rIns="0" bIns="0" rtlCol="0" anchor="t"/>
          <a:lstStyle/>
          <a:p>
            <a:pPr indent="0" marL="0">
              <a:buNone/>
            </a:pPr>
            <a:r>
              <a:rPr lang="en-US" sz="6400" b="1" dirty="0">
                <a:solidFill>
                  <a:srgbClr val="F3EBE4"/>
                </a:solidFill>
                <a:latin typeface="Courier New" pitchFamily="34" charset="0"/>
                <a:ea typeface="Courier New" pitchFamily="34" charset="-122"/>
                <a:cs typeface="Courier New" pitchFamily="34" charset="-120"/>
              </a:rPr>
              <a:t>02</a:t>
            </a:r>
            <a:endParaRPr lang="en-US" sz="6400" dirty="0"/>
          </a:p>
        </p:txBody>
      </p:sp>
      <p:sp>
        <p:nvSpPr>
          <p:cNvPr id="7" name="Text 5"/>
          <p:cNvSpPr txBox="1"/>
          <p:nvPr/>
        </p:nvSpPr>
        <p:spPr>
          <a:xfrm>
            <a:off x="822960" y="2377440"/>
            <a:ext cx="7498080" cy="822960"/>
          </a:xfrm>
          <a:prstGeom prst="rect">
            <a:avLst/>
          </a:prstGeom>
          <a:noFill/>
          <a:ln/>
        </p:spPr>
        <p:txBody>
          <a:bodyPr wrap="square" lIns="0" tIns="0" rIns="0" bIns="0" rtlCol="0" anchor="t"/>
          <a:lstStyle/>
          <a:p>
            <a:pPr indent="0" marL="0">
              <a:buNone/>
            </a:pPr>
            <a:r>
              <a:rPr lang="en-US" sz="3400" dirty="0">
                <a:solidFill>
                  <a:srgbClr val="F3EBE4"/>
                </a:solidFill>
                <a:latin typeface="Georgia" pitchFamily="34" charset="0"/>
                <a:ea typeface="Georgia" pitchFamily="34" charset="-122"/>
                <a:cs typeface="Georgia" pitchFamily="34" charset="-120"/>
              </a:rPr>
              <a:t>Entendendo a Situação</a:t>
            </a:r>
            <a:endParaRPr lang="en-US" sz="3400" dirty="0"/>
          </a:p>
        </p:txBody>
      </p:sp>
      <p:sp>
        <p:nvSpPr>
          <p:cNvPr id="8" name="Text 6"/>
          <p:cNvSpPr txBox="1"/>
          <p:nvPr/>
        </p:nvSpPr>
        <p:spPr>
          <a:xfrm>
            <a:off x="822960" y="3474720"/>
            <a:ext cx="7315200" cy="457200"/>
          </a:xfrm>
          <a:prstGeom prst="rect">
            <a:avLst/>
          </a:prstGeom>
          <a:noFill/>
          <a:ln/>
        </p:spPr>
        <p:txBody>
          <a:bodyPr wrap="square" lIns="0" tIns="0" rIns="0" bIns="0" rtlCol="0" anchor="t"/>
          <a:lstStyle/>
          <a:p>
            <a:pPr indent="0" marL="0">
              <a:buNone/>
            </a:pPr>
            <a:r>
              <a:rPr lang="en-US" sz="1300" dirty="0">
                <a:solidFill>
                  <a:srgbClr val="D9CBBF"/>
                </a:solidFill>
                <a:latin typeface="Courier New" pitchFamily="34" charset="0"/>
                <a:ea typeface="Courier New" pitchFamily="34" charset="-122"/>
                <a:cs typeface="Courier New" pitchFamily="34" charset="-120"/>
              </a:rPr>
              <a:t>Identificando formas de violência e rompendo o silêncio.</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B8763A"/>
        </a:solidFill>
      </p:bgPr>
    </p:bg>
    <p:spTree>
      <p:nvGrpSpPr>
        <p:cNvPr id="1" name=""/>
        <p:cNvGrpSpPr/>
        <p:nvPr/>
      </p:nvGrpSpPr>
      <p:grpSpPr>
        <a:xfrm>
          <a:off x="0" y="0"/>
          <a:ext cx="0" cy="0"/>
          <a:chOff x="0" y="0"/>
          <a:chExt cx="0" cy="0"/>
        </a:xfrm>
      </p:grpSpPr>
      <p:sp>
        <p:nvSpPr>
          <p:cNvPr id="2" name="Shape 0"/>
          <p:cNvSpPr/>
          <p:nvPr/>
        </p:nvSpPr>
        <p:spPr>
          <a:xfrm>
            <a:off x="365760" y="274320"/>
            <a:ext cx="8412480" cy="4572000"/>
          </a:xfrm>
          <a:prstGeom prst="roundRect">
            <a:avLst>
              <a:gd name="adj" fmla="val 6000"/>
            </a:avLst>
          </a:prstGeom>
          <a:solidFill>
            <a:srgbClr val="FAF5F0"/>
          </a:solidFill>
          <a:ln w="12700">
            <a:solidFill>
              <a:srgbClr val="FAF5F0"/>
            </a:solidFill>
            <a:prstDash val="solid"/>
          </a:ln>
        </p:spPr>
        <p:txBody>
          <a:bodyPr/>
          <a:p/>
        </p:txBody>
      </p:sp>
      <p:sp>
        <p:nvSpPr>
          <p:cNvPr id="3" name="Shape 1"/>
          <p:cNvSpPr/>
          <p:nvPr/>
        </p:nvSpPr>
        <p:spPr>
          <a:xfrm>
            <a:off x="73152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4" name="Shape 2"/>
          <p:cNvSpPr/>
          <p:nvPr/>
        </p:nvSpPr>
        <p:spPr>
          <a:xfrm>
            <a:off x="3200400" y="548640"/>
            <a:ext cx="2377440" cy="91440"/>
          </a:xfrm>
          <a:prstGeom prst="roundRect">
            <a:avLst>
              <a:gd name="adj" fmla="val 50000"/>
            </a:avLst>
          </a:prstGeom>
          <a:solidFill>
            <a:srgbClr val="E8863F"/>
          </a:solidFill>
          <a:ln w="12700">
            <a:solidFill>
              <a:srgbClr val="E8863F"/>
            </a:solidFill>
            <a:prstDash val="solid"/>
          </a:ln>
        </p:spPr>
        <p:txBody>
          <a:bodyPr/>
          <a:p/>
        </p:txBody>
      </p:sp>
      <p:sp>
        <p:nvSpPr>
          <p:cNvPr id="5" name="Shape 3"/>
          <p:cNvSpPr/>
          <p:nvPr/>
        </p:nvSpPr>
        <p:spPr>
          <a:xfrm>
            <a:off x="566928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6" name="Text 4"/>
          <p:cNvSpPr txBox="1"/>
          <p:nvPr/>
        </p:nvSpPr>
        <p:spPr>
          <a:xfrm>
            <a:off x="822960" y="914400"/>
            <a:ext cx="7498080" cy="640080"/>
          </a:xfrm>
          <a:prstGeom prst="rect">
            <a:avLst/>
          </a:prstGeom>
          <a:noFill/>
          <a:ln/>
        </p:spPr>
        <p:txBody>
          <a:bodyPr wrap="square" lIns="0" tIns="0" rIns="0" bIns="0" rtlCol="0" anchor="t"/>
          <a:lstStyle/>
          <a:p>
            <a:pPr indent="0" marL="0">
              <a:buNone/>
            </a:pPr>
            <a:r>
              <a:rPr lang="en-US" sz="2400" dirty="0">
                <a:solidFill>
                  <a:srgbClr val="2A1D1A"/>
                </a:solidFill>
                <a:latin typeface="Georgia" pitchFamily="34" charset="0"/>
                <a:ea typeface="Georgia" pitchFamily="34" charset="-122"/>
                <a:cs typeface="Georgia" pitchFamily="34" charset="-120"/>
              </a:rPr>
              <a:t>Violência Física e Psicológica</a:t>
            </a:r>
            <a:endParaRPr lang="en-US" sz="2400" dirty="0"/>
          </a:p>
        </p:txBody>
      </p:sp>
      <p:sp>
        <p:nvSpPr>
          <p:cNvPr id="7" name="Text 5"/>
          <p:cNvSpPr txBox="1"/>
          <p:nvPr/>
        </p:nvSpPr>
        <p:spPr>
          <a:xfrm>
            <a:off x="822960" y="1783080"/>
            <a:ext cx="3566160" cy="365760"/>
          </a:xfrm>
          <a:prstGeom prst="rect">
            <a:avLst/>
          </a:prstGeom>
          <a:noFill/>
          <a:ln/>
        </p:spPr>
        <p:txBody>
          <a:bodyPr wrap="square" lIns="0" tIns="0" rIns="0" bIns="0" rtlCol="0" anchor="t"/>
          <a:lstStyle/>
          <a:p>
            <a:pPr indent="0" marL="0">
              <a:buNone/>
            </a:pPr>
            <a:r>
              <a:rPr lang="en-US" sz="1500" dirty="0">
                <a:solidFill>
                  <a:srgbClr val="E8863F"/>
                </a:solidFill>
                <a:latin typeface="Georgia" pitchFamily="34" charset="0"/>
                <a:ea typeface="Georgia" pitchFamily="34" charset="-122"/>
                <a:cs typeface="Georgia" pitchFamily="34" charset="-120"/>
              </a:rPr>
              <a:t>Violência Física</a:t>
            </a:r>
            <a:endParaRPr lang="en-US" sz="1500" dirty="0"/>
          </a:p>
        </p:txBody>
      </p:sp>
      <p:sp>
        <p:nvSpPr>
          <p:cNvPr id="8" name="Text 6"/>
          <p:cNvSpPr txBox="1"/>
          <p:nvPr/>
        </p:nvSpPr>
        <p:spPr>
          <a:xfrm>
            <a:off x="822960" y="2240280"/>
            <a:ext cx="3566160" cy="2468880"/>
          </a:xfrm>
          <a:prstGeom prst="rect">
            <a:avLst/>
          </a:prstGeom>
          <a:noFill/>
          <a:ln/>
        </p:spPr>
        <p:txBody>
          <a:bodyPr wrap="square" lIns="0" tIns="0" rIns="0" bIns="0" rtlCol="0" anchor="t"/>
          <a:lstStyle/>
          <a:p>
            <a:pPr indent="0" marL="0">
              <a:lnSpc>
                <a:spcPct val="120000"/>
              </a:lnSpc>
              <a:buNone/>
            </a:pPr>
            <a:r>
              <a:rPr lang="en-US" sz="950" dirty="0">
                <a:solidFill>
                  <a:srgbClr val="2A1D1A"/>
                </a:solidFill>
                <a:latin typeface="Courier New" pitchFamily="34" charset="0"/>
                <a:ea typeface="Courier New" pitchFamily="34" charset="-122"/>
                <a:cs typeface="Courier New" pitchFamily="34" charset="-120"/>
              </a:rPr>
              <a:t>A violência física é qualquer conduta que ofenda a integridade ou a saúde corporal da mulher. Isso inclui o uso de força, tapas, socos, empurrões, agressões com objetos ou armas, e qualquer ação que cause dor ou lesão. Lembre-se: a culpa nunca é sua e você não está sozinha.</a:t>
            </a:r>
            <a:endParaRPr lang="en-US" sz="950" dirty="0"/>
          </a:p>
        </p:txBody>
      </p:sp>
      <p:sp>
        <p:nvSpPr>
          <p:cNvPr id="9" name="Text 7"/>
          <p:cNvSpPr txBox="1"/>
          <p:nvPr/>
        </p:nvSpPr>
        <p:spPr>
          <a:xfrm>
            <a:off x="4663440" y="1783080"/>
            <a:ext cx="3566160" cy="365760"/>
          </a:xfrm>
          <a:prstGeom prst="rect">
            <a:avLst/>
          </a:prstGeom>
          <a:noFill/>
          <a:ln/>
        </p:spPr>
        <p:txBody>
          <a:bodyPr wrap="square" lIns="0" tIns="0" rIns="0" bIns="0" rtlCol="0" anchor="t"/>
          <a:lstStyle/>
          <a:p>
            <a:pPr indent="0" marL="0">
              <a:buNone/>
            </a:pPr>
            <a:r>
              <a:rPr lang="en-US" sz="1500" dirty="0">
                <a:solidFill>
                  <a:srgbClr val="E8863F"/>
                </a:solidFill>
                <a:latin typeface="Georgia" pitchFamily="34" charset="0"/>
                <a:ea typeface="Georgia" pitchFamily="34" charset="-122"/>
                <a:cs typeface="Georgia" pitchFamily="34" charset="-120"/>
              </a:rPr>
              <a:t>Violência Psicológica</a:t>
            </a:r>
            <a:endParaRPr lang="en-US" sz="1500" dirty="0"/>
          </a:p>
        </p:txBody>
      </p:sp>
      <p:sp>
        <p:nvSpPr>
          <p:cNvPr id="10" name="Text 8"/>
          <p:cNvSpPr txBox="1"/>
          <p:nvPr/>
        </p:nvSpPr>
        <p:spPr>
          <a:xfrm>
            <a:off x="4663440" y="2240280"/>
            <a:ext cx="3566160" cy="2468880"/>
          </a:xfrm>
          <a:prstGeom prst="rect">
            <a:avLst/>
          </a:prstGeom>
          <a:noFill/>
          <a:ln/>
        </p:spPr>
        <p:txBody>
          <a:bodyPr wrap="square" lIns="0" tIns="0" rIns="0" bIns="0" rtlCol="0" anchor="t"/>
          <a:lstStyle/>
          <a:p>
            <a:pPr indent="0" marL="0">
              <a:lnSpc>
                <a:spcPct val="120000"/>
              </a:lnSpc>
              <a:buNone/>
            </a:pPr>
            <a:r>
              <a:rPr lang="en-US" sz="950" dirty="0">
                <a:solidFill>
                  <a:srgbClr val="2A1D1A"/>
                </a:solidFill>
                <a:latin typeface="Courier New" pitchFamily="34" charset="0"/>
                <a:ea typeface="Courier New" pitchFamily="34" charset="-122"/>
                <a:cs typeface="Courier New" pitchFamily="34" charset="-120"/>
              </a:rPr>
              <a:t>A violência psicológica envolve comportamentos que causam dano emocional e diminuição da autoestima. Isso inclui ameaças, humilhações, isolamento social, vigilância constante, perseguição, insultos e o controle sobre suas decisões. Essas atitudes visam desestabilizar a mulher e são formas de violência.</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B8763A"/>
        </a:solidFill>
      </p:bgPr>
    </p:bg>
    <p:spTree>
      <p:nvGrpSpPr>
        <p:cNvPr id="1" name=""/>
        <p:cNvGrpSpPr/>
        <p:nvPr/>
      </p:nvGrpSpPr>
      <p:grpSpPr>
        <a:xfrm>
          <a:off x="0" y="0"/>
          <a:ext cx="0" cy="0"/>
          <a:chOff x="0" y="0"/>
          <a:chExt cx="0" cy="0"/>
        </a:xfrm>
      </p:grpSpPr>
      <p:sp>
        <p:nvSpPr>
          <p:cNvPr id="2" name="Shape 0"/>
          <p:cNvSpPr/>
          <p:nvPr/>
        </p:nvSpPr>
        <p:spPr>
          <a:xfrm>
            <a:off x="365760" y="274320"/>
            <a:ext cx="8412480" cy="4572000"/>
          </a:xfrm>
          <a:prstGeom prst="roundRect">
            <a:avLst>
              <a:gd name="adj" fmla="val 6000"/>
            </a:avLst>
          </a:prstGeom>
          <a:solidFill>
            <a:srgbClr val="FAF5F0"/>
          </a:solidFill>
          <a:ln w="12700">
            <a:solidFill>
              <a:srgbClr val="FAF5F0"/>
            </a:solidFill>
            <a:prstDash val="solid"/>
          </a:ln>
        </p:spPr>
        <p:txBody>
          <a:bodyPr/>
          <a:p/>
        </p:txBody>
      </p:sp>
      <p:sp>
        <p:nvSpPr>
          <p:cNvPr id="3" name="Shape 1"/>
          <p:cNvSpPr/>
          <p:nvPr/>
        </p:nvSpPr>
        <p:spPr>
          <a:xfrm>
            <a:off x="73152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4" name="Shape 2"/>
          <p:cNvSpPr/>
          <p:nvPr/>
        </p:nvSpPr>
        <p:spPr>
          <a:xfrm>
            <a:off x="3200400" y="548640"/>
            <a:ext cx="2377440" cy="91440"/>
          </a:xfrm>
          <a:prstGeom prst="roundRect">
            <a:avLst>
              <a:gd name="adj" fmla="val 50000"/>
            </a:avLst>
          </a:prstGeom>
          <a:solidFill>
            <a:srgbClr val="E8863F"/>
          </a:solidFill>
          <a:ln w="12700">
            <a:solidFill>
              <a:srgbClr val="E8863F"/>
            </a:solidFill>
            <a:prstDash val="solid"/>
          </a:ln>
        </p:spPr>
        <p:txBody>
          <a:bodyPr/>
          <a:p/>
        </p:txBody>
      </p:sp>
      <p:sp>
        <p:nvSpPr>
          <p:cNvPr id="5" name="Shape 3"/>
          <p:cNvSpPr/>
          <p:nvPr/>
        </p:nvSpPr>
        <p:spPr>
          <a:xfrm>
            <a:off x="566928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6" name="Text 4"/>
          <p:cNvSpPr txBox="1"/>
          <p:nvPr/>
        </p:nvSpPr>
        <p:spPr>
          <a:xfrm>
            <a:off x="822960" y="1005840"/>
            <a:ext cx="4754880" cy="914400"/>
          </a:xfrm>
          <a:prstGeom prst="rect">
            <a:avLst/>
          </a:prstGeom>
          <a:noFill/>
          <a:ln/>
        </p:spPr>
        <p:txBody>
          <a:bodyPr wrap="square" lIns="0" tIns="0" rIns="0" bIns="0" rtlCol="0" anchor="t"/>
          <a:lstStyle/>
          <a:p>
            <a:pPr indent="0" marL="0">
              <a:buNone/>
            </a:pPr>
            <a:r>
              <a:rPr lang="en-US" sz="2400" dirty="0">
                <a:solidFill>
                  <a:srgbClr val="2A1D1A"/>
                </a:solidFill>
                <a:latin typeface="Georgia" pitchFamily="34" charset="0"/>
                <a:ea typeface="Georgia" pitchFamily="34" charset="-122"/>
                <a:cs typeface="Georgia" pitchFamily="34" charset="-120"/>
              </a:rPr>
              <a:t>Violência Sexual</a:t>
            </a:r>
            <a:endParaRPr lang="en-US" sz="2400" dirty="0"/>
          </a:p>
        </p:txBody>
      </p:sp>
      <p:sp>
        <p:nvSpPr>
          <p:cNvPr id="7" name="Text 5"/>
          <p:cNvSpPr txBox="1"/>
          <p:nvPr/>
        </p:nvSpPr>
        <p:spPr>
          <a:xfrm>
            <a:off x="822960" y="1828800"/>
            <a:ext cx="4754880" cy="2743200"/>
          </a:xfrm>
          <a:prstGeom prst="rect">
            <a:avLst/>
          </a:prstGeom>
          <a:noFill/>
          <a:ln/>
        </p:spPr>
        <p:txBody>
          <a:bodyPr wrap="square" lIns="0" tIns="0" rIns="0" bIns="0" rtlCol="0" anchor="t"/>
          <a:lstStyle/>
          <a:p>
            <a:pPr indent="0" marL="0">
              <a:lnSpc>
                <a:spcPct val="120000"/>
              </a:lnSpc>
              <a:buNone/>
            </a:pPr>
            <a:r>
              <a:rPr lang="en-US" sz="1100" dirty="0">
                <a:solidFill>
                  <a:srgbClr val="2A1D1A"/>
                </a:solidFill>
                <a:latin typeface="Courier New" pitchFamily="34" charset="0"/>
                <a:ea typeface="Courier New" pitchFamily="34" charset="-122"/>
                <a:cs typeface="Courier New" pitchFamily="34" charset="-120"/>
              </a:rPr>
              <a:t>A violência sexual é qualquer conduta que constranja a mulher a presenciar, a manter ou a participar de relação sexual não desejada mediante intimidação, ameaça, coação ou uso da força. Também configura violência sexual impedir o uso de qualquer método contraceptivo ou forçar o aborto, sendo fundamental o consentimento livre e consciente em qualquer ato.</a:t>
            </a:r>
            <a:endParaRPr lang="en-US" sz="1100" dirty="0"/>
          </a:p>
        </p:txBody>
      </p:sp>
      <p:sp>
        <p:nvSpPr>
          <p:cNvPr id="8" name="Shape 6"/>
          <p:cNvSpPr/>
          <p:nvPr/>
        </p:nvSpPr>
        <p:spPr>
          <a:xfrm>
            <a:off x="5989320" y="914400"/>
            <a:ext cx="2788920" cy="3931920"/>
          </a:xfrm>
          <a:prstGeom prst="rect">
            <a:avLst/>
          </a:prstGeom>
          <a:solidFill>
            <a:srgbClr val="2C3A35"/>
          </a:solidFill>
          <a:ln w="12700">
            <a:solidFill>
              <a:srgbClr val="2C3A35"/>
            </a:solidFill>
            <a:prstDash val="solid"/>
          </a:ln>
        </p:spPr>
        <p:txBody>
          <a:body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B8763A"/>
        </a:solidFill>
      </p:bgPr>
    </p:bg>
    <p:spTree>
      <p:nvGrpSpPr>
        <p:cNvPr id="1" name=""/>
        <p:cNvGrpSpPr/>
        <p:nvPr/>
      </p:nvGrpSpPr>
      <p:grpSpPr>
        <a:xfrm>
          <a:off x="0" y="0"/>
          <a:ext cx="0" cy="0"/>
          <a:chOff x="0" y="0"/>
          <a:chExt cx="0" cy="0"/>
        </a:xfrm>
      </p:grpSpPr>
      <p:sp>
        <p:nvSpPr>
          <p:cNvPr id="2" name="Shape 0"/>
          <p:cNvSpPr/>
          <p:nvPr/>
        </p:nvSpPr>
        <p:spPr>
          <a:xfrm>
            <a:off x="365760" y="274320"/>
            <a:ext cx="8412480" cy="4572000"/>
          </a:xfrm>
          <a:prstGeom prst="roundRect">
            <a:avLst>
              <a:gd name="adj" fmla="val 6000"/>
            </a:avLst>
          </a:prstGeom>
          <a:solidFill>
            <a:srgbClr val="FAF5F0"/>
          </a:solidFill>
          <a:ln w="12700">
            <a:solidFill>
              <a:srgbClr val="FAF5F0"/>
            </a:solidFill>
            <a:prstDash val="solid"/>
          </a:ln>
        </p:spPr>
        <p:txBody>
          <a:bodyPr/>
          <a:p/>
        </p:txBody>
      </p:sp>
      <p:sp>
        <p:nvSpPr>
          <p:cNvPr id="3" name="Shape 1"/>
          <p:cNvSpPr/>
          <p:nvPr/>
        </p:nvSpPr>
        <p:spPr>
          <a:xfrm>
            <a:off x="73152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4" name="Shape 2"/>
          <p:cNvSpPr/>
          <p:nvPr/>
        </p:nvSpPr>
        <p:spPr>
          <a:xfrm>
            <a:off x="3200400" y="548640"/>
            <a:ext cx="2377440" cy="91440"/>
          </a:xfrm>
          <a:prstGeom prst="roundRect">
            <a:avLst>
              <a:gd name="adj" fmla="val 50000"/>
            </a:avLst>
          </a:prstGeom>
          <a:solidFill>
            <a:srgbClr val="E8863F"/>
          </a:solidFill>
          <a:ln w="12700">
            <a:solidFill>
              <a:srgbClr val="E8863F"/>
            </a:solidFill>
            <a:prstDash val="solid"/>
          </a:ln>
        </p:spPr>
        <p:txBody>
          <a:bodyPr/>
          <a:p/>
        </p:txBody>
      </p:sp>
      <p:sp>
        <p:nvSpPr>
          <p:cNvPr id="5" name="Shape 3"/>
          <p:cNvSpPr/>
          <p:nvPr/>
        </p:nvSpPr>
        <p:spPr>
          <a:xfrm>
            <a:off x="566928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6" name="Text 4"/>
          <p:cNvSpPr txBox="1"/>
          <p:nvPr/>
        </p:nvSpPr>
        <p:spPr>
          <a:xfrm>
            <a:off x="822960" y="914400"/>
            <a:ext cx="7498080" cy="640080"/>
          </a:xfrm>
          <a:prstGeom prst="rect">
            <a:avLst/>
          </a:prstGeom>
          <a:noFill/>
          <a:ln/>
        </p:spPr>
        <p:txBody>
          <a:bodyPr wrap="square" lIns="0" tIns="0" rIns="0" bIns="0" rtlCol="0" anchor="t"/>
          <a:lstStyle/>
          <a:p>
            <a:pPr indent="0" marL="0">
              <a:buNone/>
            </a:pPr>
            <a:r>
              <a:rPr lang="en-US" sz="2400" dirty="0">
                <a:solidFill>
                  <a:srgbClr val="2A1D1A"/>
                </a:solidFill>
                <a:latin typeface="Georgia" pitchFamily="34" charset="0"/>
                <a:ea typeface="Georgia" pitchFamily="34" charset="-122"/>
                <a:cs typeface="Georgia" pitchFamily="34" charset="-120"/>
              </a:rPr>
              <a:t>Violência Patrimonial e Moral</a:t>
            </a:r>
            <a:endParaRPr lang="en-US" sz="2400" dirty="0"/>
          </a:p>
        </p:txBody>
      </p:sp>
      <p:sp>
        <p:nvSpPr>
          <p:cNvPr id="7" name="Text 5"/>
          <p:cNvSpPr txBox="1"/>
          <p:nvPr/>
        </p:nvSpPr>
        <p:spPr>
          <a:xfrm>
            <a:off x="822960" y="1783080"/>
            <a:ext cx="3566160" cy="365760"/>
          </a:xfrm>
          <a:prstGeom prst="rect">
            <a:avLst/>
          </a:prstGeom>
          <a:noFill/>
          <a:ln/>
        </p:spPr>
        <p:txBody>
          <a:bodyPr wrap="square" lIns="0" tIns="0" rIns="0" bIns="0" rtlCol="0" anchor="t"/>
          <a:lstStyle/>
          <a:p>
            <a:pPr indent="0" marL="0">
              <a:buNone/>
            </a:pPr>
            <a:r>
              <a:rPr lang="en-US" sz="1500" dirty="0">
                <a:solidFill>
                  <a:srgbClr val="E8863F"/>
                </a:solidFill>
                <a:latin typeface="Georgia" pitchFamily="34" charset="0"/>
                <a:ea typeface="Georgia" pitchFamily="34" charset="-122"/>
                <a:cs typeface="Georgia" pitchFamily="34" charset="-120"/>
              </a:rPr>
              <a:t>Violência Patrimonial</a:t>
            </a:r>
            <a:endParaRPr lang="en-US" sz="1500" dirty="0"/>
          </a:p>
        </p:txBody>
      </p:sp>
      <p:sp>
        <p:nvSpPr>
          <p:cNvPr id="8" name="Text 6"/>
          <p:cNvSpPr txBox="1"/>
          <p:nvPr/>
        </p:nvSpPr>
        <p:spPr>
          <a:xfrm>
            <a:off x="822960" y="2240280"/>
            <a:ext cx="3566160" cy="2468880"/>
          </a:xfrm>
          <a:prstGeom prst="rect">
            <a:avLst/>
          </a:prstGeom>
          <a:noFill/>
          <a:ln/>
        </p:spPr>
        <p:txBody>
          <a:bodyPr wrap="square" lIns="0" tIns="0" rIns="0" bIns="0" rtlCol="0" anchor="t"/>
          <a:lstStyle/>
          <a:p>
            <a:pPr indent="0" marL="0">
              <a:lnSpc>
                <a:spcPct val="120000"/>
              </a:lnSpc>
              <a:buNone/>
            </a:pPr>
            <a:r>
              <a:rPr lang="en-US" sz="950" dirty="0">
                <a:solidFill>
                  <a:srgbClr val="2A1D1A"/>
                </a:solidFill>
                <a:latin typeface="Courier New" pitchFamily="34" charset="0"/>
                <a:ea typeface="Courier New" pitchFamily="34" charset="-122"/>
                <a:cs typeface="Courier New" pitchFamily="34" charset="-120"/>
              </a:rPr>
              <a:t>A violência patrimonial ocorre quando o agressor retém, subtrai, destrói parcial ou totalmente seus objetos, instrumentos de trabalho, documentos pessoais, bens, valores e direitos ou recursos econômicos, incluindo os destinados a satisfazer suas necessidades básicas.</a:t>
            </a:r>
            <a:endParaRPr lang="en-US" sz="950" dirty="0"/>
          </a:p>
        </p:txBody>
      </p:sp>
      <p:sp>
        <p:nvSpPr>
          <p:cNvPr id="9" name="Text 7"/>
          <p:cNvSpPr txBox="1"/>
          <p:nvPr/>
        </p:nvSpPr>
        <p:spPr>
          <a:xfrm>
            <a:off x="4663440" y="1783080"/>
            <a:ext cx="3566160" cy="365760"/>
          </a:xfrm>
          <a:prstGeom prst="rect">
            <a:avLst/>
          </a:prstGeom>
          <a:noFill/>
          <a:ln/>
        </p:spPr>
        <p:txBody>
          <a:bodyPr wrap="square" lIns="0" tIns="0" rIns="0" bIns="0" rtlCol="0" anchor="t"/>
          <a:lstStyle/>
          <a:p>
            <a:pPr indent="0" marL="0">
              <a:buNone/>
            </a:pPr>
            <a:r>
              <a:rPr lang="en-US" sz="1500" dirty="0">
                <a:solidFill>
                  <a:srgbClr val="E8863F"/>
                </a:solidFill>
                <a:latin typeface="Georgia" pitchFamily="34" charset="0"/>
                <a:ea typeface="Georgia" pitchFamily="34" charset="-122"/>
                <a:cs typeface="Georgia" pitchFamily="34" charset="-120"/>
              </a:rPr>
              <a:t>Violência Moral</a:t>
            </a:r>
            <a:endParaRPr lang="en-US" sz="1500" dirty="0"/>
          </a:p>
        </p:txBody>
      </p:sp>
      <p:sp>
        <p:nvSpPr>
          <p:cNvPr id="10" name="Text 8"/>
          <p:cNvSpPr txBox="1"/>
          <p:nvPr/>
        </p:nvSpPr>
        <p:spPr>
          <a:xfrm>
            <a:off x="4663440" y="2240280"/>
            <a:ext cx="3566160" cy="2468880"/>
          </a:xfrm>
          <a:prstGeom prst="rect">
            <a:avLst/>
          </a:prstGeom>
          <a:noFill/>
          <a:ln/>
        </p:spPr>
        <p:txBody>
          <a:bodyPr wrap="square" lIns="0" tIns="0" rIns="0" bIns="0" rtlCol="0" anchor="t"/>
          <a:lstStyle/>
          <a:p>
            <a:pPr indent="0" marL="0">
              <a:lnSpc>
                <a:spcPct val="120000"/>
              </a:lnSpc>
              <a:buNone/>
            </a:pPr>
            <a:r>
              <a:rPr lang="en-US" sz="950" dirty="0">
                <a:solidFill>
                  <a:srgbClr val="2A1D1A"/>
                </a:solidFill>
                <a:latin typeface="Courier New" pitchFamily="34" charset="0"/>
                <a:ea typeface="Courier New" pitchFamily="34" charset="-122"/>
                <a:cs typeface="Courier New" pitchFamily="34" charset="-120"/>
              </a:rPr>
              <a:t>A violência moral configura-se por qualquer conduta que configure calúnia, difamação ou injúria. Isso inclui acusar a mulher de crimes que ela não cometeu, espalhar boatos ou mentiras para prejudicar sua reputação e expor sua vida íntima para humilhá-la.</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B8763A"/>
        </a:solidFill>
      </p:bgPr>
    </p:bg>
    <p:spTree>
      <p:nvGrpSpPr>
        <p:cNvPr id="1" name=""/>
        <p:cNvGrpSpPr/>
        <p:nvPr/>
      </p:nvGrpSpPr>
      <p:grpSpPr>
        <a:xfrm>
          <a:off x="0" y="0"/>
          <a:ext cx="0" cy="0"/>
          <a:chOff x="0" y="0"/>
          <a:chExt cx="0" cy="0"/>
        </a:xfrm>
      </p:grpSpPr>
      <p:sp>
        <p:nvSpPr>
          <p:cNvPr id="2" name="Shape 0"/>
          <p:cNvSpPr/>
          <p:nvPr/>
        </p:nvSpPr>
        <p:spPr>
          <a:xfrm>
            <a:off x="365760" y="274320"/>
            <a:ext cx="8412480" cy="4572000"/>
          </a:xfrm>
          <a:prstGeom prst="roundRect">
            <a:avLst>
              <a:gd name="adj" fmla="val 6000"/>
            </a:avLst>
          </a:prstGeom>
          <a:solidFill>
            <a:srgbClr val="FAF5F0"/>
          </a:solidFill>
          <a:ln w="12700">
            <a:solidFill>
              <a:srgbClr val="FAF5F0"/>
            </a:solidFill>
            <a:prstDash val="solid"/>
          </a:ln>
        </p:spPr>
        <p:txBody>
          <a:bodyPr/>
          <a:p/>
        </p:txBody>
      </p:sp>
      <p:sp>
        <p:nvSpPr>
          <p:cNvPr id="3" name="Shape 1"/>
          <p:cNvSpPr/>
          <p:nvPr/>
        </p:nvSpPr>
        <p:spPr>
          <a:xfrm>
            <a:off x="73152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4" name="Shape 2"/>
          <p:cNvSpPr/>
          <p:nvPr/>
        </p:nvSpPr>
        <p:spPr>
          <a:xfrm>
            <a:off x="3200400" y="548640"/>
            <a:ext cx="2377440" cy="91440"/>
          </a:xfrm>
          <a:prstGeom prst="roundRect">
            <a:avLst>
              <a:gd name="adj" fmla="val 50000"/>
            </a:avLst>
          </a:prstGeom>
          <a:solidFill>
            <a:srgbClr val="E8863F"/>
          </a:solidFill>
          <a:ln w="12700">
            <a:solidFill>
              <a:srgbClr val="E8863F"/>
            </a:solidFill>
            <a:prstDash val="solid"/>
          </a:ln>
        </p:spPr>
        <p:txBody>
          <a:bodyPr/>
          <a:p/>
        </p:txBody>
      </p:sp>
      <p:sp>
        <p:nvSpPr>
          <p:cNvPr id="5" name="Shape 3"/>
          <p:cNvSpPr/>
          <p:nvPr/>
        </p:nvSpPr>
        <p:spPr>
          <a:xfrm>
            <a:off x="566928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6" name="Text 4"/>
          <p:cNvSpPr txBox="1"/>
          <p:nvPr/>
        </p:nvSpPr>
        <p:spPr>
          <a:xfrm>
            <a:off x="822960" y="1005840"/>
            <a:ext cx="4754880" cy="914400"/>
          </a:xfrm>
          <a:prstGeom prst="rect">
            <a:avLst/>
          </a:prstGeom>
          <a:noFill/>
          <a:ln/>
        </p:spPr>
        <p:txBody>
          <a:bodyPr wrap="square" lIns="0" tIns="0" rIns="0" bIns="0" rtlCol="0" anchor="t"/>
          <a:lstStyle/>
          <a:p>
            <a:pPr indent="0" marL="0">
              <a:buNone/>
            </a:pPr>
            <a:r>
              <a:rPr lang="en-US" sz="2400" dirty="0">
                <a:solidFill>
                  <a:srgbClr val="2A1D1A"/>
                </a:solidFill>
                <a:latin typeface="Georgia" pitchFamily="34" charset="0"/>
                <a:ea typeface="Georgia" pitchFamily="34" charset="-122"/>
                <a:cs typeface="Georgia" pitchFamily="34" charset="-120"/>
              </a:rPr>
              <a:t>Violência Vicária</a:t>
            </a:r>
            <a:endParaRPr lang="en-US" sz="2400" dirty="0"/>
          </a:p>
        </p:txBody>
      </p:sp>
      <p:sp>
        <p:nvSpPr>
          <p:cNvPr id="7" name="Text 5"/>
          <p:cNvSpPr txBox="1"/>
          <p:nvPr/>
        </p:nvSpPr>
        <p:spPr>
          <a:xfrm>
            <a:off x="822960" y="1828800"/>
            <a:ext cx="4754880" cy="2743200"/>
          </a:xfrm>
          <a:prstGeom prst="rect">
            <a:avLst/>
          </a:prstGeom>
          <a:noFill/>
          <a:ln/>
        </p:spPr>
        <p:txBody>
          <a:bodyPr wrap="square" lIns="0" tIns="0" rIns="0" bIns="0" rtlCol="0" anchor="t"/>
          <a:lstStyle/>
          <a:p>
            <a:pPr indent="0" marL="0">
              <a:lnSpc>
                <a:spcPct val="120000"/>
              </a:lnSpc>
              <a:buNone/>
            </a:pPr>
            <a:r>
              <a:rPr lang="en-US" sz="1000" dirty="0">
                <a:solidFill>
                  <a:srgbClr val="2A1D1A"/>
                </a:solidFill>
                <a:latin typeface="Courier New" pitchFamily="34" charset="0"/>
                <a:ea typeface="Courier New" pitchFamily="34" charset="-122"/>
                <a:cs typeface="Courier New" pitchFamily="34" charset="-120"/>
              </a:rPr>
              <a:t>A violência vicária ocorre quando o agressor utiliza pessoas queridas, como filhos, familiares ou até animais de estimação, para atingir, controlar ou causar sofrimento emocional à mulher. Isso inclui ameaçar tirar a guarda dos filhos, machucar ou manipular crianças, ou ameaçar a integridade de animais. Se houver risco para crianças, busque orientação no Disque 100, no Conselho Tutelar ou na Defensoria Pública, além de acionar o 190 em situações de urgência.</a:t>
            </a:r>
            <a:endParaRPr lang="en-US" sz="1000" dirty="0"/>
          </a:p>
        </p:txBody>
      </p:sp>
      <p:sp>
        <p:nvSpPr>
          <p:cNvPr id="8" name="Shape 6"/>
          <p:cNvSpPr/>
          <p:nvPr/>
        </p:nvSpPr>
        <p:spPr>
          <a:xfrm>
            <a:off x="5989320" y="914400"/>
            <a:ext cx="2788920" cy="3931920"/>
          </a:xfrm>
          <a:prstGeom prst="rect">
            <a:avLst/>
          </a:prstGeom>
          <a:solidFill>
            <a:srgbClr val="A5622E"/>
          </a:solidFill>
          <a:ln w="12700">
            <a:solidFill>
              <a:srgbClr val="A5622E"/>
            </a:solidFill>
            <a:prstDash val="solid"/>
          </a:ln>
        </p:spPr>
        <p:txBody>
          <a:body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B8763A"/>
        </a:solidFill>
      </p:bgPr>
    </p:bg>
    <p:spTree>
      <p:nvGrpSpPr>
        <p:cNvPr id="1" name=""/>
        <p:cNvGrpSpPr/>
        <p:nvPr/>
      </p:nvGrpSpPr>
      <p:grpSpPr>
        <a:xfrm>
          <a:off x="0" y="0"/>
          <a:ext cx="0" cy="0"/>
          <a:chOff x="0" y="0"/>
          <a:chExt cx="0" cy="0"/>
        </a:xfrm>
      </p:grpSpPr>
      <p:sp>
        <p:nvSpPr>
          <p:cNvPr id="2" name="Shape 0"/>
          <p:cNvSpPr/>
          <p:nvPr/>
        </p:nvSpPr>
        <p:spPr>
          <a:xfrm>
            <a:off x="365760" y="274320"/>
            <a:ext cx="8412480" cy="4572000"/>
          </a:xfrm>
          <a:prstGeom prst="roundRect">
            <a:avLst>
              <a:gd name="adj" fmla="val 6000"/>
            </a:avLst>
          </a:prstGeom>
          <a:solidFill>
            <a:srgbClr val="FAF5F0"/>
          </a:solidFill>
          <a:ln w="12700">
            <a:solidFill>
              <a:srgbClr val="FAF5F0"/>
            </a:solidFill>
            <a:prstDash val="solid"/>
          </a:ln>
        </p:spPr>
        <p:txBody>
          <a:bodyPr/>
          <a:p/>
        </p:txBody>
      </p:sp>
      <p:sp>
        <p:nvSpPr>
          <p:cNvPr id="3" name="Shape 1"/>
          <p:cNvSpPr/>
          <p:nvPr/>
        </p:nvSpPr>
        <p:spPr>
          <a:xfrm>
            <a:off x="73152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4" name="Shape 2"/>
          <p:cNvSpPr/>
          <p:nvPr/>
        </p:nvSpPr>
        <p:spPr>
          <a:xfrm>
            <a:off x="3200400" y="548640"/>
            <a:ext cx="2377440" cy="91440"/>
          </a:xfrm>
          <a:prstGeom prst="roundRect">
            <a:avLst>
              <a:gd name="adj" fmla="val 50000"/>
            </a:avLst>
          </a:prstGeom>
          <a:solidFill>
            <a:srgbClr val="E8863F"/>
          </a:solidFill>
          <a:ln w="12700">
            <a:solidFill>
              <a:srgbClr val="E8863F"/>
            </a:solidFill>
            <a:prstDash val="solid"/>
          </a:ln>
        </p:spPr>
        <p:txBody>
          <a:bodyPr/>
          <a:p/>
        </p:txBody>
      </p:sp>
      <p:sp>
        <p:nvSpPr>
          <p:cNvPr id="5" name="Shape 3"/>
          <p:cNvSpPr/>
          <p:nvPr/>
        </p:nvSpPr>
        <p:spPr>
          <a:xfrm>
            <a:off x="566928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6" name="Text 4"/>
          <p:cNvSpPr txBox="1"/>
          <p:nvPr/>
        </p:nvSpPr>
        <p:spPr>
          <a:xfrm>
            <a:off x="822960" y="914400"/>
            <a:ext cx="7498080" cy="640080"/>
          </a:xfrm>
          <a:prstGeom prst="rect">
            <a:avLst/>
          </a:prstGeom>
          <a:noFill/>
          <a:ln/>
        </p:spPr>
        <p:txBody>
          <a:bodyPr wrap="square" lIns="0" tIns="0" rIns="0" bIns="0" rtlCol="0" anchor="t"/>
          <a:lstStyle/>
          <a:p>
            <a:pPr indent="0" marL="0">
              <a:buNone/>
            </a:pPr>
            <a:r>
              <a:rPr lang="en-US" sz="2400" dirty="0">
                <a:solidFill>
                  <a:srgbClr val="2A1D1A"/>
                </a:solidFill>
                <a:latin typeface="Georgia" pitchFamily="34" charset="0"/>
                <a:ea typeface="Georgia" pitchFamily="34" charset="-122"/>
                <a:cs typeface="Georgia" pitchFamily="34" charset="-120"/>
              </a:rPr>
              <a:t>Autonomia e Apoio</a:t>
            </a:r>
            <a:endParaRPr lang="en-US" sz="2400" dirty="0"/>
          </a:p>
        </p:txBody>
      </p:sp>
      <p:sp>
        <p:nvSpPr>
          <p:cNvPr id="7" name="Text 5"/>
          <p:cNvSpPr txBox="1"/>
          <p:nvPr/>
        </p:nvSpPr>
        <p:spPr>
          <a:xfrm>
            <a:off x="822960" y="1783080"/>
            <a:ext cx="3566160" cy="365760"/>
          </a:xfrm>
          <a:prstGeom prst="rect">
            <a:avLst/>
          </a:prstGeom>
          <a:noFill/>
          <a:ln/>
        </p:spPr>
        <p:txBody>
          <a:bodyPr wrap="square" lIns="0" tIns="0" rIns="0" bIns="0" rtlCol="0" anchor="t"/>
          <a:lstStyle/>
          <a:p>
            <a:pPr indent="0" marL="0">
              <a:buNone/>
            </a:pPr>
            <a:r>
              <a:rPr lang="en-US" sz="1500" dirty="0">
                <a:solidFill>
                  <a:srgbClr val="E8863F"/>
                </a:solidFill>
                <a:latin typeface="Georgia" pitchFamily="34" charset="0"/>
                <a:ea typeface="Georgia" pitchFamily="34" charset="-122"/>
                <a:cs typeface="Georgia" pitchFamily="34" charset="-120"/>
              </a:rPr>
              <a:t>A culpa não é sua</a:t>
            </a:r>
            <a:endParaRPr lang="en-US" sz="1500" dirty="0"/>
          </a:p>
        </p:txBody>
      </p:sp>
      <p:sp>
        <p:nvSpPr>
          <p:cNvPr id="8" name="Text 6"/>
          <p:cNvSpPr txBox="1"/>
          <p:nvPr/>
        </p:nvSpPr>
        <p:spPr>
          <a:xfrm>
            <a:off x="822960" y="2240280"/>
            <a:ext cx="3566160" cy="2468880"/>
          </a:xfrm>
          <a:prstGeom prst="rect">
            <a:avLst/>
          </a:prstGeom>
          <a:noFill/>
          <a:ln/>
        </p:spPr>
        <p:txBody>
          <a:bodyPr wrap="square" lIns="0" tIns="0" rIns="0" bIns="0" rtlCol="0" anchor="t"/>
          <a:lstStyle/>
          <a:p>
            <a:pPr indent="0" marL="0">
              <a:lnSpc>
                <a:spcPct val="120000"/>
              </a:lnSpc>
              <a:buNone/>
            </a:pPr>
            <a:r>
              <a:rPr lang="en-US" sz="950" dirty="0">
                <a:solidFill>
                  <a:srgbClr val="2A1D1A"/>
                </a:solidFill>
                <a:latin typeface="Courier New" pitchFamily="34" charset="0"/>
                <a:ea typeface="Courier New" pitchFamily="34" charset="-122"/>
                <a:cs typeface="Courier New" pitchFamily="34" charset="-120"/>
              </a:rPr>
              <a:t>É fundamental que você saiba que a responsabilidade por qualquer ato de violência é sempre de quem a pratica. Você não tem culpa pelo comportamento do agressor, independentemente de qualquer situação ou justificativa que ele possa apresentar. O controle e a agressão são escolhas dele, e você merece viver com respeito e dignidade.</a:t>
            </a:r>
            <a:endParaRPr lang="en-US" sz="950" dirty="0"/>
          </a:p>
        </p:txBody>
      </p:sp>
      <p:sp>
        <p:nvSpPr>
          <p:cNvPr id="9" name="Text 7"/>
          <p:cNvSpPr txBox="1"/>
          <p:nvPr/>
        </p:nvSpPr>
        <p:spPr>
          <a:xfrm>
            <a:off x="4663440" y="1783080"/>
            <a:ext cx="3566160" cy="365760"/>
          </a:xfrm>
          <a:prstGeom prst="rect">
            <a:avLst/>
          </a:prstGeom>
          <a:noFill/>
          <a:ln/>
        </p:spPr>
        <p:txBody>
          <a:bodyPr wrap="square" lIns="0" tIns="0" rIns="0" bIns="0" rtlCol="0" anchor="t"/>
          <a:lstStyle/>
          <a:p>
            <a:pPr indent="0" marL="0">
              <a:buNone/>
            </a:pPr>
            <a:r>
              <a:rPr lang="en-US" sz="1500" dirty="0">
                <a:solidFill>
                  <a:srgbClr val="E8863F"/>
                </a:solidFill>
                <a:latin typeface="Georgia" pitchFamily="34" charset="0"/>
                <a:ea typeface="Georgia" pitchFamily="34" charset="-122"/>
                <a:cs typeface="Georgia" pitchFamily="34" charset="-120"/>
              </a:rPr>
              <a:t>Sua decisão, seu tempo</a:t>
            </a:r>
            <a:endParaRPr lang="en-US" sz="1500" dirty="0"/>
          </a:p>
        </p:txBody>
      </p:sp>
      <p:sp>
        <p:nvSpPr>
          <p:cNvPr id="10" name="Text 8"/>
          <p:cNvSpPr txBox="1"/>
          <p:nvPr/>
        </p:nvSpPr>
        <p:spPr>
          <a:xfrm>
            <a:off x="4663440" y="2240280"/>
            <a:ext cx="3566160" cy="2468880"/>
          </a:xfrm>
          <a:prstGeom prst="rect">
            <a:avLst/>
          </a:prstGeom>
          <a:noFill/>
          <a:ln/>
        </p:spPr>
        <p:txBody>
          <a:bodyPr wrap="square" lIns="0" tIns="0" rIns="0" bIns="0" rtlCol="0" anchor="t"/>
          <a:lstStyle/>
          <a:p>
            <a:pPr indent="0" marL="0">
              <a:lnSpc>
                <a:spcPct val="120000"/>
              </a:lnSpc>
              <a:buNone/>
            </a:pPr>
            <a:r>
              <a:rPr lang="en-US" sz="950" dirty="0">
                <a:solidFill>
                  <a:srgbClr val="2A1D1A"/>
                </a:solidFill>
                <a:latin typeface="Courier New" pitchFamily="34" charset="0"/>
                <a:ea typeface="Courier New" pitchFamily="34" charset="-122"/>
                <a:cs typeface="Courier New" pitchFamily="34" charset="-120"/>
              </a:rPr>
              <a:t>O caminho para buscar ajuda ou tomar decisões sobre o seu relacionamento pertence exclusivamente a você. Não existe um tempo certo ou uma forma única de agir. Respeitamos o seu processo e estamos aqui para oferecer suporte e informações, sem qualquer tipo de pressão, para que você se sinta segura e fortalecida em suas escolhas.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B8763A"/>
        </a:solidFill>
      </p:bgPr>
    </p:bg>
    <p:spTree>
      <p:nvGrpSpPr>
        <p:cNvPr id="1" name=""/>
        <p:cNvGrpSpPr/>
        <p:nvPr/>
      </p:nvGrpSpPr>
      <p:grpSpPr>
        <a:xfrm>
          <a:off x="0" y="0"/>
          <a:ext cx="0" cy="0"/>
          <a:chOff x="0" y="0"/>
          <a:chExt cx="0" cy="0"/>
        </a:xfrm>
      </p:grpSpPr>
      <p:sp>
        <p:nvSpPr>
          <p:cNvPr id="2" name="Shape 0"/>
          <p:cNvSpPr/>
          <p:nvPr/>
        </p:nvSpPr>
        <p:spPr>
          <a:xfrm>
            <a:off x="365760" y="274320"/>
            <a:ext cx="8412480" cy="4572000"/>
          </a:xfrm>
          <a:prstGeom prst="roundRect">
            <a:avLst>
              <a:gd name="adj" fmla="val 6000"/>
            </a:avLst>
          </a:prstGeom>
          <a:solidFill>
            <a:srgbClr val="3F2F2D"/>
          </a:solidFill>
          <a:ln w="12700">
            <a:solidFill>
              <a:srgbClr val="3F2F2D"/>
            </a:solidFill>
            <a:prstDash val="solid"/>
          </a:ln>
        </p:spPr>
        <p:txBody>
          <a:bodyPr/>
          <a:p/>
        </p:txBody>
      </p:sp>
      <p:sp>
        <p:nvSpPr>
          <p:cNvPr id="3" name="Shape 1"/>
          <p:cNvSpPr/>
          <p:nvPr/>
        </p:nvSpPr>
        <p:spPr>
          <a:xfrm>
            <a:off x="731520" y="548640"/>
            <a:ext cx="2377440" cy="91440"/>
          </a:xfrm>
          <a:prstGeom prst="roundRect">
            <a:avLst>
              <a:gd name="adj" fmla="val 50000"/>
            </a:avLst>
          </a:prstGeom>
          <a:solidFill>
            <a:srgbClr val="7A6C68"/>
          </a:solidFill>
          <a:ln w="12700">
            <a:solidFill>
              <a:srgbClr val="7A6C68"/>
            </a:solidFill>
            <a:prstDash val="solid"/>
          </a:ln>
        </p:spPr>
        <p:txBody>
          <a:bodyPr/>
          <a:p/>
        </p:txBody>
      </p:sp>
      <p:sp>
        <p:nvSpPr>
          <p:cNvPr id="4" name="Shape 2"/>
          <p:cNvSpPr/>
          <p:nvPr/>
        </p:nvSpPr>
        <p:spPr>
          <a:xfrm>
            <a:off x="3200400" y="548640"/>
            <a:ext cx="2377440" cy="91440"/>
          </a:xfrm>
          <a:prstGeom prst="roundRect">
            <a:avLst>
              <a:gd name="adj" fmla="val 50000"/>
            </a:avLst>
          </a:prstGeom>
          <a:solidFill>
            <a:srgbClr val="7A6C68"/>
          </a:solidFill>
          <a:ln w="12700">
            <a:solidFill>
              <a:srgbClr val="7A6C68"/>
            </a:solidFill>
            <a:prstDash val="solid"/>
          </a:ln>
        </p:spPr>
        <p:txBody>
          <a:bodyPr/>
          <a:p/>
        </p:txBody>
      </p:sp>
      <p:sp>
        <p:nvSpPr>
          <p:cNvPr id="5" name="Shape 3"/>
          <p:cNvSpPr/>
          <p:nvPr/>
        </p:nvSpPr>
        <p:spPr>
          <a:xfrm>
            <a:off x="5669280" y="548640"/>
            <a:ext cx="2377440" cy="91440"/>
          </a:xfrm>
          <a:prstGeom prst="roundRect">
            <a:avLst>
              <a:gd name="adj" fmla="val 50000"/>
            </a:avLst>
          </a:prstGeom>
          <a:solidFill>
            <a:srgbClr val="E8863F"/>
          </a:solidFill>
          <a:ln w="12700">
            <a:solidFill>
              <a:srgbClr val="E8863F"/>
            </a:solidFill>
            <a:prstDash val="solid"/>
          </a:ln>
        </p:spPr>
        <p:txBody>
          <a:bodyPr/>
          <a:p/>
        </p:txBody>
      </p:sp>
      <p:sp>
        <p:nvSpPr>
          <p:cNvPr id="6" name="Text 4"/>
          <p:cNvSpPr txBox="1"/>
          <p:nvPr/>
        </p:nvSpPr>
        <p:spPr>
          <a:xfrm>
            <a:off x="822960" y="1097280"/>
            <a:ext cx="3657600" cy="1188720"/>
          </a:xfrm>
          <a:prstGeom prst="rect">
            <a:avLst/>
          </a:prstGeom>
          <a:noFill/>
          <a:ln/>
        </p:spPr>
        <p:txBody>
          <a:bodyPr wrap="square" lIns="0" tIns="0" rIns="0" bIns="0" rtlCol="0" anchor="t"/>
          <a:lstStyle/>
          <a:p>
            <a:pPr indent="0" marL="0">
              <a:buNone/>
            </a:pPr>
            <a:r>
              <a:rPr lang="en-US" sz="6400" b="1" dirty="0">
                <a:solidFill>
                  <a:srgbClr val="F3EBE4"/>
                </a:solidFill>
                <a:latin typeface="Courier New" pitchFamily="34" charset="0"/>
                <a:ea typeface="Courier New" pitchFamily="34" charset="-122"/>
                <a:cs typeface="Courier New" pitchFamily="34" charset="-120"/>
              </a:rPr>
              <a:t>03</a:t>
            </a:r>
            <a:endParaRPr lang="en-US" sz="6400" dirty="0"/>
          </a:p>
        </p:txBody>
      </p:sp>
      <p:sp>
        <p:nvSpPr>
          <p:cNvPr id="7" name="Text 5"/>
          <p:cNvSpPr txBox="1"/>
          <p:nvPr/>
        </p:nvSpPr>
        <p:spPr>
          <a:xfrm>
            <a:off x="822960" y="2377440"/>
            <a:ext cx="7498080" cy="822960"/>
          </a:xfrm>
          <a:prstGeom prst="rect">
            <a:avLst/>
          </a:prstGeom>
          <a:noFill/>
          <a:ln/>
        </p:spPr>
        <p:txBody>
          <a:bodyPr wrap="square" lIns="0" tIns="0" rIns="0" bIns="0" rtlCol="0" anchor="t"/>
          <a:lstStyle/>
          <a:p>
            <a:pPr indent="0" marL="0">
              <a:buNone/>
            </a:pPr>
            <a:r>
              <a:rPr lang="en-US" sz="3400" dirty="0">
                <a:solidFill>
                  <a:srgbClr val="F3EBE4"/>
                </a:solidFill>
                <a:latin typeface="Georgia" pitchFamily="34" charset="0"/>
                <a:ea typeface="Georgia" pitchFamily="34" charset="-122"/>
                <a:cs typeface="Georgia" pitchFamily="34" charset="-120"/>
              </a:rPr>
              <a:t>Buscando Apoio</a:t>
            </a:r>
            <a:endParaRPr lang="en-US" sz="3400" dirty="0"/>
          </a:p>
        </p:txBody>
      </p:sp>
      <p:sp>
        <p:nvSpPr>
          <p:cNvPr id="8" name="Text 6"/>
          <p:cNvSpPr txBox="1"/>
          <p:nvPr/>
        </p:nvSpPr>
        <p:spPr>
          <a:xfrm>
            <a:off x="822960" y="3474720"/>
            <a:ext cx="7315200" cy="457200"/>
          </a:xfrm>
          <a:prstGeom prst="rect">
            <a:avLst/>
          </a:prstGeom>
          <a:noFill/>
          <a:ln/>
        </p:spPr>
        <p:txBody>
          <a:bodyPr wrap="square" lIns="0" tIns="0" rIns="0" bIns="0" rtlCol="0" anchor="t"/>
          <a:lstStyle/>
          <a:p>
            <a:pPr indent="0" marL="0">
              <a:buNone/>
            </a:pPr>
            <a:r>
              <a:rPr lang="en-US" sz="1300" dirty="0">
                <a:solidFill>
                  <a:srgbClr val="D9CBBF"/>
                </a:solidFill>
                <a:latin typeface="Courier New" pitchFamily="34" charset="0"/>
                <a:ea typeface="Courier New" pitchFamily="34" charset="-122"/>
                <a:cs typeface="Courier New" pitchFamily="34" charset="-120"/>
              </a:rPr>
              <a:t>Serviços locais, rede nacional e segurança digital.</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B8763A"/>
        </a:solidFill>
      </p:bgPr>
    </p:bg>
    <p:spTree>
      <p:nvGrpSpPr>
        <p:cNvPr id="1" name=""/>
        <p:cNvGrpSpPr/>
        <p:nvPr/>
      </p:nvGrpSpPr>
      <p:grpSpPr>
        <a:xfrm>
          <a:off x="0" y="0"/>
          <a:ext cx="0" cy="0"/>
          <a:chOff x="0" y="0"/>
          <a:chExt cx="0" cy="0"/>
        </a:xfrm>
      </p:grpSpPr>
      <p:sp>
        <p:nvSpPr>
          <p:cNvPr id="2" name="Shape 0"/>
          <p:cNvSpPr/>
          <p:nvPr/>
        </p:nvSpPr>
        <p:spPr>
          <a:xfrm>
            <a:off x="365760" y="274320"/>
            <a:ext cx="8412480" cy="4572000"/>
          </a:xfrm>
          <a:prstGeom prst="roundRect">
            <a:avLst>
              <a:gd name="adj" fmla="val 6000"/>
            </a:avLst>
          </a:prstGeom>
          <a:solidFill>
            <a:srgbClr val="FAF5F0"/>
          </a:solidFill>
          <a:ln w="12700">
            <a:solidFill>
              <a:srgbClr val="FAF5F0"/>
            </a:solidFill>
            <a:prstDash val="solid"/>
          </a:ln>
        </p:spPr>
        <p:txBody>
          <a:bodyPr/>
          <a:p/>
        </p:txBody>
      </p:sp>
      <p:sp>
        <p:nvSpPr>
          <p:cNvPr id="3" name="Shape 1"/>
          <p:cNvSpPr/>
          <p:nvPr/>
        </p:nvSpPr>
        <p:spPr>
          <a:xfrm>
            <a:off x="73152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4" name="Shape 2"/>
          <p:cNvSpPr/>
          <p:nvPr/>
        </p:nvSpPr>
        <p:spPr>
          <a:xfrm>
            <a:off x="320040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5" name="Shape 3"/>
          <p:cNvSpPr/>
          <p:nvPr/>
        </p:nvSpPr>
        <p:spPr>
          <a:xfrm>
            <a:off x="5669280" y="548640"/>
            <a:ext cx="2377440" cy="91440"/>
          </a:xfrm>
          <a:prstGeom prst="roundRect">
            <a:avLst>
              <a:gd name="adj" fmla="val 50000"/>
            </a:avLst>
          </a:prstGeom>
          <a:solidFill>
            <a:srgbClr val="E8863F"/>
          </a:solidFill>
          <a:ln w="12700">
            <a:solidFill>
              <a:srgbClr val="E8863F"/>
            </a:solidFill>
            <a:prstDash val="solid"/>
          </a:ln>
        </p:spPr>
        <p:txBody>
          <a:bodyPr/>
          <a:p/>
        </p:txBody>
      </p:sp>
      <p:sp>
        <p:nvSpPr>
          <p:cNvPr id="6" name="Text 4"/>
          <p:cNvSpPr txBox="1"/>
          <p:nvPr/>
        </p:nvSpPr>
        <p:spPr>
          <a:xfrm>
            <a:off x="822960" y="1005840"/>
            <a:ext cx="4754880" cy="914400"/>
          </a:xfrm>
          <a:prstGeom prst="rect">
            <a:avLst/>
          </a:prstGeom>
          <a:noFill/>
          <a:ln/>
        </p:spPr>
        <p:txBody>
          <a:bodyPr wrap="square" lIns="0" tIns="0" rIns="0" bIns="0" rtlCol="0" anchor="t"/>
          <a:lstStyle/>
          <a:p>
            <a:pPr indent="0" marL="0">
              <a:buNone/>
            </a:pPr>
            <a:r>
              <a:rPr lang="en-US" sz="2400" dirty="0">
                <a:solidFill>
                  <a:srgbClr val="2A1D1A"/>
                </a:solidFill>
                <a:latin typeface="Georgia" pitchFamily="34" charset="0"/>
                <a:ea typeface="Georgia" pitchFamily="34" charset="-122"/>
                <a:cs typeface="Georgia" pitchFamily="34" charset="-120"/>
              </a:rPr>
              <a:t>Encontre Serviços Perto de Você</a:t>
            </a:r>
            <a:endParaRPr lang="en-US" sz="2400" dirty="0"/>
          </a:p>
        </p:txBody>
      </p:sp>
      <p:sp>
        <p:nvSpPr>
          <p:cNvPr id="7" name="Text 5"/>
          <p:cNvSpPr txBox="1"/>
          <p:nvPr/>
        </p:nvSpPr>
        <p:spPr>
          <a:xfrm>
            <a:off x="822960" y="1828800"/>
            <a:ext cx="4754880" cy="2743200"/>
          </a:xfrm>
          <a:prstGeom prst="rect">
            <a:avLst/>
          </a:prstGeom>
          <a:noFill/>
          <a:ln/>
        </p:spPr>
        <p:txBody>
          <a:bodyPr wrap="square" lIns="0" tIns="0" rIns="0" bIns="0" rtlCol="0" anchor="t"/>
          <a:lstStyle/>
          <a:p>
            <a:pPr indent="0" marL="0">
              <a:lnSpc>
                <a:spcPct val="120000"/>
              </a:lnSpc>
              <a:buNone/>
            </a:pPr>
            <a:r>
              <a:rPr lang="en-US" sz="1050" dirty="0">
                <a:solidFill>
                  <a:srgbClr val="2A1D1A"/>
                </a:solidFill>
                <a:latin typeface="Courier New" pitchFamily="34" charset="0"/>
                <a:ea typeface="Courier New" pitchFamily="34" charset="-122"/>
                <a:cs typeface="Courier New" pitchFamily="34" charset="-120"/>
              </a:rPr>
              <a:t>Para localizar delegacias especializadas, centros de referência, unidades de saúde ou serviços de assistência social na sua região, você pode compartilhar o seu CEP ou o nome da sua cidade e bairro. Lembre-se de utilizar um local seguro para essa busca. Se preferir não informar sua localização, posso fornecer os contatos de atendimento nacional disponíveis a qualquer momento.</a:t>
            </a:r>
            <a:endParaRPr lang="en-US" sz="1050" dirty="0"/>
          </a:p>
        </p:txBody>
      </p:sp>
      <p:sp>
        <p:nvSpPr>
          <p:cNvPr id="8" name="Shape 6"/>
          <p:cNvSpPr/>
          <p:nvPr/>
        </p:nvSpPr>
        <p:spPr>
          <a:xfrm>
            <a:off x="5989320" y="914400"/>
            <a:ext cx="2788920" cy="3931920"/>
          </a:xfrm>
          <a:prstGeom prst="rect">
            <a:avLst/>
          </a:prstGeom>
          <a:solidFill>
            <a:srgbClr val="C8673A"/>
          </a:solidFill>
          <a:ln w="12700">
            <a:solidFill>
              <a:srgbClr val="C8673A"/>
            </a:solidFill>
            <a:prstDash val="solid"/>
          </a:ln>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B8763A"/>
        </a:solidFill>
      </p:bgPr>
    </p:bg>
    <p:spTree>
      <p:nvGrpSpPr>
        <p:cNvPr id="1" name=""/>
        <p:cNvGrpSpPr/>
        <p:nvPr/>
      </p:nvGrpSpPr>
      <p:grpSpPr>
        <a:xfrm>
          <a:off x="0" y="0"/>
          <a:ext cx="0" cy="0"/>
          <a:chOff x="0" y="0"/>
          <a:chExt cx="0" cy="0"/>
        </a:xfrm>
      </p:grpSpPr>
      <p:sp>
        <p:nvSpPr>
          <p:cNvPr id="2" name="Shape 0"/>
          <p:cNvSpPr/>
          <p:nvPr/>
        </p:nvSpPr>
        <p:spPr>
          <a:xfrm>
            <a:off x="365760" y="274320"/>
            <a:ext cx="8412480" cy="4572000"/>
          </a:xfrm>
          <a:prstGeom prst="roundRect">
            <a:avLst>
              <a:gd name="adj" fmla="val 6000"/>
            </a:avLst>
          </a:prstGeom>
          <a:solidFill>
            <a:srgbClr val="FAF5F0"/>
          </a:solidFill>
          <a:ln w="12700">
            <a:solidFill>
              <a:srgbClr val="FAF5F0"/>
            </a:solidFill>
            <a:prstDash val="solid"/>
          </a:ln>
        </p:spPr>
        <p:txBody>
          <a:bodyPr/>
          <a:p/>
        </p:txBody>
      </p:sp>
      <p:sp>
        <p:nvSpPr>
          <p:cNvPr id="3" name="Shape 1"/>
          <p:cNvSpPr/>
          <p:nvPr/>
        </p:nvSpPr>
        <p:spPr>
          <a:xfrm>
            <a:off x="73152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4" name="Shape 2"/>
          <p:cNvSpPr/>
          <p:nvPr/>
        </p:nvSpPr>
        <p:spPr>
          <a:xfrm>
            <a:off x="320040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5" name="Shape 3"/>
          <p:cNvSpPr/>
          <p:nvPr/>
        </p:nvSpPr>
        <p:spPr>
          <a:xfrm>
            <a:off x="5669280" y="548640"/>
            <a:ext cx="2377440" cy="91440"/>
          </a:xfrm>
          <a:prstGeom prst="roundRect">
            <a:avLst>
              <a:gd name="adj" fmla="val 50000"/>
            </a:avLst>
          </a:prstGeom>
          <a:solidFill>
            <a:srgbClr val="E8863F"/>
          </a:solidFill>
          <a:ln w="12700">
            <a:solidFill>
              <a:srgbClr val="E8863F"/>
            </a:solidFill>
            <a:prstDash val="solid"/>
          </a:ln>
        </p:spPr>
        <p:txBody>
          <a:bodyPr/>
          <a:p/>
        </p:txBody>
      </p:sp>
      <p:sp>
        <p:nvSpPr>
          <p:cNvPr id="6" name="Text 4"/>
          <p:cNvSpPr txBox="1"/>
          <p:nvPr/>
        </p:nvSpPr>
        <p:spPr>
          <a:xfrm>
            <a:off x="822960" y="914400"/>
            <a:ext cx="4572000" cy="1371600"/>
          </a:xfrm>
          <a:prstGeom prst="rect">
            <a:avLst/>
          </a:prstGeom>
          <a:noFill/>
          <a:ln/>
        </p:spPr>
        <p:txBody>
          <a:bodyPr wrap="square" lIns="0" tIns="0" rIns="0" bIns="0" rtlCol="0" anchor="t"/>
          <a:lstStyle/>
          <a:p>
            <a:pPr indent="0" marL="0">
              <a:buNone/>
            </a:pPr>
            <a:r>
              <a:rPr lang="en-US" sz="8000" b="1" dirty="0">
                <a:solidFill>
                  <a:srgbClr val="2A1D1A"/>
                </a:solidFill>
                <a:latin typeface="Courier New" pitchFamily="34" charset="0"/>
                <a:ea typeface="Courier New" pitchFamily="34" charset="-122"/>
                <a:cs typeface="Courier New" pitchFamily="34" charset="-120"/>
              </a:rPr>
              <a:t>180</a:t>
            </a:r>
            <a:endParaRPr lang="en-US" sz="8000" dirty="0"/>
          </a:p>
        </p:txBody>
      </p:sp>
      <p:sp>
        <p:nvSpPr>
          <p:cNvPr id="7" name="Text 5"/>
          <p:cNvSpPr txBox="1"/>
          <p:nvPr/>
        </p:nvSpPr>
        <p:spPr>
          <a:xfrm>
            <a:off x="822960" y="2331720"/>
            <a:ext cx="7315200" cy="365760"/>
          </a:xfrm>
          <a:prstGeom prst="rect">
            <a:avLst/>
          </a:prstGeom>
          <a:noFill/>
          <a:ln/>
        </p:spPr>
        <p:txBody>
          <a:bodyPr wrap="square" lIns="0" tIns="0" rIns="0" bIns="0" rtlCol="0" anchor="t"/>
          <a:lstStyle/>
          <a:p>
            <a:pPr indent="0" marL="0">
              <a:buNone/>
            </a:pPr>
            <a:r>
              <a:rPr lang="en-US" sz="1200" dirty="0">
                <a:solidFill>
                  <a:srgbClr val="9A8A82"/>
                </a:solidFill>
                <a:latin typeface="Courier New" pitchFamily="34" charset="0"/>
                <a:ea typeface="Courier New" pitchFamily="34" charset="-122"/>
                <a:cs typeface="Courier New" pitchFamily="34" charset="-120"/>
              </a:rPr>
              <a:t>Central de Atendimento à Mulher</a:t>
            </a:r>
            <a:endParaRPr lang="en-US" sz="1200" dirty="0"/>
          </a:p>
        </p:txBody>
      </p:sp>
      <p:sp>
        <p:nvSpPr>
          <p:cNvPr id="8" name="Text 6"/>
          <p:cNvSpPr txBox="1"/>
          <p:nvPr/>
        </p:nvSpPr>
        <p:spPr>
          <a:xfrm>
            <a:off x="822960" y="2834640"/>
            <a:ext cx="7498080" cy="1645920"/>
          </a:xfrm>
          <a:prstGeom prst="rect">
            <a:avLst/>
          </a:prstGeom>
          <a:noFill/>
          <a:ln/>
        </p:spPr>
        <p:txBody>
          <a:bodyPr wrap="square" lIns="0" tIns="0" rIns="0" bIns="0" rtlCol="0" anchor="t"/>
          <a:lstStyle/>
          <a:p>
            <a:pPr indent="0" marL="0">
              <a:lnSpc>
                <a:spcPct val="125000"/>
              </a:lnSpc>
              <a:buNone/>
            </a:pPr>
            <a:r>
              <a:rPr lang="en-US" sz="1150" dirty="0">
                <a:solidFill>
                  <a:srgbClr val="2A1D1A"/>
                </a:solidFill>
                <a:latin typeface="Courier New" pitchFamily="34" charset="0"/>
                <a:ea typeface="Courier New" pitchFamily="34" charset="-122"/>
                <a:cs typeface="Courier New" pitchFamily="34" charset="-120"/>
              </a:rPr>
              <a:t>A Central de Atendimento à Mulher é um serviço público gratuito e confidencial, disponível 24 horas por dia, todos os dias da semana. Ao ligar 180, você recebe orientações sobre seus direitos, informações sobre a rede de proteção e acolhimento especializado para situações de violência, sem precisar se identificar.</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B8763A"/>
        </a:solidFill>
      </p:bgPr>
    </p:bg>
    <p:spTree>
      <p:nvGrpSpPr>
        <p:cNvPr id="1" name=""/>
        <p:cNvGrpSpPr/>
        <p:nvPr/>
      </p:nvGrpSpPr>
      <p:grpSpPr>
        <a:xfrm>
          <a:off x="0" y="0"/>
          <a:ext cx="0" cy="0"/>
          <a:chOff x="0" y="0"/>
          <a:chExt cx="0" cy="0"/>
        </a:xfrm>
      </p:grpSpPr>
      <p:sp>
        <p:nvSpPr>
          <p:cNvPr id="2" name="Shape 0"/>
          <p:cNvSpPr/>
          <p:nvPr/>
        </p:nvSpPr>
        <p:spPr>
          <a:xfrm>
            <a:off x="365760" y="274320"/>
            <a:ext cx="8412480" cy="4572000"/>
          </a:xfrm>
          <a:prstGeom prst="roundRect">
            <a:avLst>
              <a:gd name="adj" fmla="val 6000"/>
            </a:avLst>
          </a:prstGeom>
          <a:solidFill>
            <a:srgbClr val="FAF5F0"/>
          </a:solidFill>
          <a:ln w="12700">
            <a:solidFill>
              <a:srgbClr val="FAF5F0"/>
            </a:solidFill>
            <a:prstDash val="solid"/>
          </a:ln>
        </p:spPr>
        <p:txBody>
          <a:bodyPr/>
          <a:p/>
        </p:txBody>
      </p:sp>
      <p:sp>
        <p:nvSpPr>
          <p:cNvPr id="3" name="Shape 1"/>
          <p:cNvSpPr/>
          <p:nvPr/>
        </p:nvSpPr>
        <p:spPr>
          <a:xfrm>
            <a:off x="73152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4" name="Shape 2"/>
          <p:cNvSpPr/>
          <p:nvPr/>
        </p:nvSpPr>
        <p:spPr>
          <a:xfrm>
            <a:off x="320040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5" name="Shape 3"/>
          <p:cNvSpPr/>
          <p:nvPr/>
        </p:nvSpPr>
        <p:spPr>
          <a:xfrm>
            <a:off x="5669280" y="548640"/>
            <a:ext cx="2377440" cy="91440"/>
          </a:xfrm>
          <a:prstGeom prst="roundRect">
            <a:avLst>
              <a:gd name="adj" fmla="val 50000"/>
            </a:avLst>
          </a:prstGeom>
          <a:solidFill>
            <a:srgbClr val="E8863F"/>
          </a:solidFill>
          <a:ln w="12700">
            <a:solidFill>
              <a:srgbClr val="E8863F"/>
            </a:solidFill>
            <a:prstDash val="solid"/>
          </a:ln>
        </p:spPr>
        <p:txBody>
          <a:bodyPr/>
          <a:p/>
        </p:txBody>
      </p:sp>
      <p:sp>
        <p:nvSpPr>
          <p:cNvPr id="6" name="Text 4"/>
          <p:cNvSpPr txBox="1"/>
          <p:nvPr/>
        </p:nvSpPr>
        <p:spPr>
          <a:xfrm>
            <a:off x="822960" y="914400"/>
            <a:ext cx="7498080" cy="640080"/>
          </a:xfrm>
          <a:prstGeom prst="rect">
            <a:avLst/>
          </a:prstGeom>
          <a:noFill/>
          <a:ln/>
        </p:spPr>
        <p:txBody>
          <a:bodyPr wrap="square" lIns="0" tIns="0" rIns="0" bIns="0" rtlCol="0" anchor="t"/>
          <a:lstStyle/>
          <a:p>
            <a:pPr indent="0" marL="0">
              <a:buNone/>
            </a:pPr>
            <a:r>
              <a:rPr lang="en-US" sz="2400" dirty="0">
                <a:solidFill>
                  <a:srgbClr val="2A1D1A"/>
                </a:solidFill>
                <a:latin typeface="Georgia" pitchFamily="34" charset="0"/>
                <a:ea typeface="Georgia" pitchFamily="34" charset="-122"/>
                <a:cs typeface="Georgia" pitchFamily="34" charset="-120"/>
              </a:rPr>
              <a:t>Segurança Digital</a:t>
            </a:r>
            <a:endParaRPr lang="en-US" sz="2400" dirty="0"/>
          </a:p>
        </p:txBody>
      </p:sp>
      <p:sp>
        <p:nvSpPr>
          <p:cNvPr id="7" name="Text 5"/>
          <p:cNvSpPr txBox="1"/>
          <p:nvPr/>
        </p:nvSpPr>
        <p:spPr>
          <a:xfrm>
            <a:off x="822960" y="1783080"/>
            <a:ext cx="3566160" cy="365760"/>
          </a:xfrm>
          <a:prstGeom prst="rect">
            <a:avLst/>
          </a:prstGeom>
          <a:noFill/>
          <a:ln/>
        </p:spPr>
        <p:txBody>
          <a:bodyPr wrap="square" lIns="0" tIns="0" rIns="0" bIns="0" rtlCol="0" anchor="t"/>
          <a:lstStyle/>
          <a:p>
            <a:pPr indent="0" marL="0">
              <a:buNone/>
            </a:pPr>
            <a:r>
              <a:rPr lang="en-US" sz="1500" dirty="0">
                <a:solidFill>
                  <a:srgbClr val="E8863F"/>
                </a:solidFill>
                <a:latin typeface="Georgia" pitchFamily="34" charset="0"/>
                <a:ea typeface="Georgia" pitchFamily="34" charset="-122"/>
                <a:cs typeface="Georgia" pitchFamily="34" charset="-120"/>
              </a:rPr>
              <a:t>Proteja seu histórico</a:t>
            </a:r>
            <a:endParaRPr lang="en-US" sz="1500" dirty="0"/>
          </a:p>
        </p:txBody>
      </p:sp>
      <p:sp>
        <p:nvSpPr>
          <p:cNvPr id="8" name="Text 6"/>
          <p:cNvSpPr txBox="1"/>
          <p:nvPr/>
        </p:nvSpPr>
        <p:spPr>
          <a:xfrm>
            <a:off x="822960" y="2240280"/>
            <a:ext cx="3566160" cy="2468880"/>
          </a:xfrm>
          <a:prstGeom prst="rect">
            <a:avLst/>
          </a:prstGeom>
          <a:noFill/>
          <a:ln/>
        </p:spPr>
        <p:txBody>
          <a:bodyPr wrap="square" lIns="0" tIns="0" rIns="0" bIns="0" rtlCol="0" anchor="t"/>
          <a:lstStyle/>
          <a:p>
            <a:pPr indent="0" marL="0">
              <a:lnSpc>
                <a:spcPct val="120000"/>
              </a:lnSpc>
              <a:buNone/>
            </a:pPr>
            <a:r>
              <a:rPr lang="en-US" sz="950" dirty="0">
                <a:solidFill>
                  <a:srgbClr val="2A1D1A"/>
                </a:solidFill>
                <a:latin typeface="Courier New" pitchFamily="34" charset="0"/>
                <a:ea typeface="Courier New" pitchFamily="34" charset="-122"/>
                <a:cs typeface="Courier New" pitchFamily="34" charset="-120"/>
              </a:rPr>
              <a:t>Para navegar com mais privacidade, utilize sempre a aba anônima ou modo privado do seu navegador. Lembre-se de apagar o histórico de navegação, a lista de sites visitados e os cookies após encerrar a consulta. Se possível, utilize um dispositivo que o agressor não tenha acesso ou senha.</a:t>
            </a:r>
            <a:endParaRPr lang="en-US" sz="950" dirty="0"/>
          </a:p>
        </p:txBody>
      </p:sp>
      <p:sp>
        <p:nvSpPr>
          <p:cNvPr id="9" name="Text 7"/>
          <p:cNvSpPr txBox="1"/>
          <p:nvPr/>
        </p:nvSpPr>
        <p:spPr>
          <a:xfrm>
            <a:off x="4663440" y="1783080"/>
            <a:ext cx="3566160" cy="365760"/>
          </a:xfrm>
          <a:prstGeom prst="rect">
            <a:avLst/>
          </a:prstGeom>
          <a:noFill/>
          <a:ln/>
        </p:spPr>
        <p:txBody>
          <a:bodyPr wrap="square" lIns="0" tIns="0" rIns="0" bIns="0" rtlCol="0" anchor="t"/>
          <a:lstStyle/>
          <a:p>
            <a:pPr indent="0" marL="0">
              <a:buNone/>
            </a:pPr>
            <a:r>
              <a:rPr lang="en-US" sz="1500" dirty="0">
                <a:solidFill>
                  <a:srgbClr val="E8863F"/>
                </a:solidFill>
                <a:latin typeface="Georgia" pitchFamily="34" charset="0"/>
                <a:ea typeface="Georgia" pitchFamily="34" charset="-122"/>
                <a:cs typeface="Georgia" pitchFamily="34" charset="-120"/>
              </a:rPr>
              <a:t>Canais Discretos</a:t>
            </a:r>
            <a:endParaRPr lang="en-US" sz="1500" dirty="0"/>
          </a:p>
        </p:txBody>
      </p:sp>
      <p:sp>
        <p:nvSpPr>
          <p:cNvPr id="10" name="Text 8"/>
          <p:cNvSpPr txBox="1"/>
          <p:nvPr/>
        </p:nvSpPr>
        <p:spPr>
          <a:xfrm>
            <a:off x="4663440" y="2240280"/>
            <a:ext cx="3566160" cy="2468880"/>
          </a:xfrm>
          <a:prstGeom prst="rect">
            <a:avLst/>
          </a:prstGeom>
          <a:noFill/>
          <a:ln/>
        </p:spPr>
        <p:txBody>
          <a:bodyPr wrap="square" lIns="0" tIns="0" rIns="0" bIns="0" rtlCol="0" anchor="t"/>
          <a:lstStyle/>
          <a:p>
            <a:pPr indent="0" marL="0">
              <a:lnSpc>
                <a:spcPct val="120000"/>
              </a:lnSpc>
              <a:buNone/>
            </a:pPr>
            <a:r>
              <a:rPr lang="en-US" sz="950" dirty="0">
                <a:solidFill>
                  <a:srgbClr val="2A1D1A"/>
                </a:solidFill>
                <a:latin typeface="Courier New" pitchFamily="34" charset="0"/>
                <a:ea typeface="Courier New" pitchFamily="34" charset="-122"/>
                <a:cs typeface="Courier New" pitchFamily="34" charset="-120"/>
              </a:rPr>
              <a:t>Mantenha aplicativos de mensagens protegidos por senha ou biometria. Se precisar salvar contatos de apoio, utilize nomes disfarçados na sua agenda telefônica para evitar suspeitas. Sempre que terminar de buscar informações, feche as abas e utilize o botão de sair rápido para limpar o acesso imediatamente.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B8763A"/>
        </a:solidFill>
      </p:bgPr>
    </p:bg>
    <p:spTree>
      <p:nvGrpSpPr>
        <p:cNvPr id="1" name=""/>
        <p:cNvGrpSpPr/>
        <p:nvPr/>
      </p:nvGrpSpPr>
      <p:grpSpPr>
        <a:xfrm>
          <a:off x="0" y="0"/>
          <a:ext cx="0" cy="0"/>
          <a:chOff x="0" y="0"/>
          <a:chExt cx="0" cy="0"/>
        </a:xfrm>
      </p:grpSpPr>
      <p:sp>
        <p:nvSpPr>
          <p:cNvPr id="2" name="Shape 0"/>
          <p:cNvSpPr/>
          <p:nvPr/>
        </p:nvSpPr>
        <p:spPr>
          <a:xfrm>
            <a:off x="365760" y="274320"/>
            <a:ext cx="8412480" cy="4572000"/>
          </a:xfrm>
          <a:prstGeom prst="roundRect">
            <a:avLst>
              <a:gd name="adj" fmla="val 6000"/>
            </a:avLst>
          </a:prstGeom>
          <a:solidFill>
            <a:srgbClr val="FAF5F0"/>
          </a:solidFill>
          <a:ln w="12700">
            <a:solidFill>
              <a:srgbClr val="FAF5F0"/>
            </a:solidFill>
            <a:prstDash val="solid"/>
          </a:ln>
        </p:spPr>
        <p:txBody>
          <a:bodyPr/>
          <a:p/>
        </p:txBody>
      </p:sp>
      <p:sp>
        <p:nvSpPr>
          <p:cNvPr id="3" name="Shape 1"/>
          <p:cNvSpPr/>
          <p:nvPr/>
        </p:nvSpPr>
        <p:spPr>
          <a:xfrm>
            <a:off x="73152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4" name="Shape 2"/>
          <p:cNvSpPr/>
          <p:nvPr/>
        </p:nvSpPr>
        <p:spPr>
          <a:xfrm>
            <a:off x="3200400" y="548640"/>
            <a:ext cx="2377440" cy="91440"/>
          </a:xfrm>
          <a:prstGeom prst="roundRect">
            <a:avLst>
              <a:gd name="adj" fmla="val 50000"/>
            </a:avLst>
          </a:prstGeom>
          <a:solidFill>
            <a:srgbClr val="BDB5AE"/>
          </a:solidFill>
          <a:ln w="12700">
            <a:solidFill>
              <a:srgbClr val="BDB5AE"/>
            </a:solidFill>
            <a:prstDash val="solid"/>
          </a:ln>
        </p:spPr>
        <p:txBody>
          <a:bodyPr/>
          <a:p/>
        </p:txBody>
      </p:sp>
      <p:sp>
        <p:nvSpPr>
          <p:cNvPr id="5" name="Shape 3"/>
          <p:cNvSpPr/>
          <p:nvPr/>
        </p:nvSpPr>
        <p:spPr>
          <a:xfrm>
            <a:off x="5669280" y="548640"/>
            <a:ext cx="2377440" cy="91440"/>
          </a:xfrm>
          <a:prstGeom prst="roundRect">
            <a:avLst>
              <a:gd name="adj" fmla="val 50000"/>
            </a:avLst>
          </a:prstGeom>
          <a:solidFill>
            <a:srgbClr val="E8863F"/>
          </a:solidFill>
          <a:ln w="12700">
            <a:solidFill>
              <a:srgbClr val="E8863F"/>
            </a:solidFill>
            <a:prstDash val="solid"/>
          </a:ln>
        </p:spPr>
        <p:txBody>
          <a:bodyPr/>
          <a:p/>
        </p:txBody>
      </p:sp>
      <p:sp>
        <p:nvSpPr>
          <p:cNvPr id="6" name="Text 4"/>
          <p:cNvSpPr txBox="1"/>
          <p:nvPr/>
        </p:nvSpPr>
        <p:spPr>
          <a:xfrm>
            <a:off x="822960" y="822960"/>
            <a:ext cx="7315200" cy="457200"/>
          </a:xfrm>
          <a:prstGeom prst="rect">
            <a:avLst/>
          </a:prstGeom>
          <a:noFill/>
          <a:ln/>
        </p:spPr>
        <p:txBody>
          <a:bodyPr wrap="square" lIns="0" tIns="0" rIns="0" bIns="0" rtlCol="0" anchor="t"/>
          <a:lstStyle/>
          <a:p>
            <a:pPr indent="0" marL="0">
              <a:buNone/>
            </a:pPr>
            <a:r>
              <a:rPr lang="en-US" sz="2200" dirty="0">
                <a:solidFill>
                  <a:srgbClr val="2A1D1A"/>
                </a:solidFill>
                <a:latin typeface="Georgia" pitchFamily="34" charset="0"/>
                <a:ea typeface="Georgia" pitchFamily="34" charset="-122"/>
                <a:cs typeface="Georgia" pitchFamily="34" charset="-120"/>
              </a:rPr>
              <a:t>Equipe do Projeto</a:t>
            </a:r>
            <a:endParaRPr lang="en-US" sz="2200" dirty="0"/>
          </a:p>
        </p:txBody>
      </p:sp>
      <p:sp>
        <p:nvSpPr>
          <p:cNvPr id="7" name="Text 5"/>
          <p:cNvSpPr txBox="1"/>
          <p:nvPr/>
        </p:nvSpPr>
        <p:spPr>
          <a:xfrm>
            <a:off x="731520" y="1371600"/>
            <a:ext cx="2560320" cy="3383280"/>
          </a:xfrm>
          <a:prstGeom prst="rect">
            <a:avLst/>
          </a:prstGeom>
          <a:noFill/>
          <a:ln/>
        </p:spPr>
        <p:txBody>
          <a:bodyPr wrap="square" lIns="0" tIns="0" rIns="0" bIns="0" rtlCol="0" anchor="t"/>
          <a:lstStyle/>
          <a:p>
            <a:pPr indent="0" marL="0">
              <a:buNone/>
            </a:pPr>
            <a:r>
              <a:rPr lang="en-US" sz="700" dirty="0">
                <a:solidFill>
                  <a:srgbClr val="9A8A82"/>
                </a:solidFill>
                <a:latin typeface="Courier New" pitchFamily="34" charset="0"/>
                <a:ea typeface="Courier New" pitchFamily="34" charset="-122"/>
                <a:cs typeface="Courier New" pitchFamily="34" charset="-120"/>
              </a:rPr>
              <a:t>Orientação / Professor</a:t>
            </a:r>
            <a:endParaRPr lang="en-US" sz="700" dirty="0"/>
          </a:p>
          <a:p>
            <a:pPr indent="0" marL="0">
              <a:buNone/>
            </a:pPr>
            <a:r>
              <a:rPr lang="en-US" sz="950" b="1" dirty="0">
                <a:solidFill>
                  <a:srgbClr val="2A1D1A"/>
                </a:solidFill>
                <a:latin typeface="Georgia" pitchFamily="34" charset="0"/>
                <a:ea typeface="Georgia" pitchFamily="34" charset="-122"/>
                <a:cs typeface="Georgia" pitchFamily="34" charset="-120"/>
              </a:rPr>
              <a:t>Álvaro Machado Júnior</a:t>
            </a:r>
            <a:endParaRPr lang="en-US" sz="700" dirty="0"/>
          </a:p>
          <a:p>
            <a:pPr indent="0" marL="0">
              <a:buNone/>
            </a:pPr>
            <a:r>
              <a:rPr lang="en-US" sz="700" dirty="0">
                <a:solidFill>
                  <a:srgbClr val="2A1D1A"/>
                </a:solidFill>
                <a:latin typeface="Courier New" pitchFamily="34" charset="0"/>
                <a:ea typeface="Courier New" pitchFamily="34" charset="-122"/>
                <a:cs typeface="Courier New" pitchFamily="34" charset="-120"/>
              </a:rPr>
              <a:t>Professor orientador especializado em Inteligência Artificial e Aprendizagem Interativa.</a:t>
            </a:r>
            <a:endParaRPr lang="en-US" sz="700" dirty="0"/>
          </a:p>
          <a:p>
            <a:pPr indent="0" marL="0">
              <a:buNone/>
            </a:pPr>
            <a:r>
              <a:rPr lang="en-US" sz="700" dirty="0">
                <a:solidFill>
                  <a:srgbClr val="9A8A82"/>
                </a:solidFill>
                <a:latin typeface="Courier New" pitchFamily="34" charset="0"/>
                <a:ea typeface="Courier New" pitchFamily="34" charset="-122"/>
                <a:cs typeface="Courier New" pitchFamily="34" charset="-120"/>
              </a:rPr>
              <a:t>Back-End</a:t>
            </a:r>
            <a:endParaRPr lang="en-US" sz="700" dirty="0"/>
          </a:p>
          <a:p>
            <a:pPr indent="0" marL="0">
              <a:buNone/>
            </a:pPr>
            <a:r>
              <a:rPr lang="en-US" sz="950" b="1" dirty="0">
                <a:solidFill>
                  <a:srgbClr val="2A1D1A"/>
                </a:solidFill>
                <a:latin typeface="Georgia" pitchFamily="34" charset="0"/>
                <a:ea typeface="Georgia" pitchFamily="34" charset="-122"/>
                <a:cs typeface="Georgia" pitchFamily="34" charset="-120"/>
              </a:rPr>
              <a:t>Dayene Souza Silva</a:t>
            </a:r>
            <a:endParaRPr lang="en-US" sz="700" dirty="0"/>
          </a:p>
          <a:p>
            <a:pPr indent="0" marL="0">
              <a:buNone/>
            </a:pPr>
            <a:r>
              <a:rPr lang="en-US" sz="700" dirty="0">
                <a:solidFill>
                  <a:srgbClr val="2A1D1A"/>
                </a:solidFill>
                <a:latin typeface="Courier New" pitchFamily="34" charset="0"/>
                <a:ea typeface="Courier New" pitchFamily="34" charset="-122"/>
                <a:cs typeface="Courier New" pitchFamily="34" charset="-120"/>
              </a:rPr>
              <a:t>Responsável pela estruturação do back-end e otimização das consultas de dados.</a:t>
            </a:r>
            <a:endParaRPr lang="en-US" sz="700" dirty="0"/>
          </a:p>
          <a:p>
            <a:pPr indent="0" marL="0">
              <a:buNone/>
            </a:pPr>
            <a:r>
              <a:rPr lang="en-US" sz="700" dirty="0">
                <a:solidFill>
                  <a:srgbClr val="9A8A82"/>
                </a:solidFill>
                <a:latin typeface="Courier New" pitchFamily="34" charset="0"/>
                <a:ea typeface="Courier New" pitchFamily="34" charset="-122"/>
                <a:cs typeface="Courier New" pitchFamily="34" charset="-120"/>
              </a:rPr>
              <a:t>Back-End</a:t>
            </a:r>
            <a:endParaRPr lang="en-US" sz="700" dirty="0"/>
          </a:p>
          <a:p>
            <a:pPr indent="0" marL="0">
              <a:buNone/>
            </a:pPr>
            <a:r>
              <a:rPr lang="en-US" sz="950" b="1" dirty="0">
                <a:solidFill>
                  <a:srgbClr val="2A1D1A"/>
                </a:solidFill>
                <a:latin typeface="Georgia" pitchFamily="34" charset="0"/>
                <a:ea typeface="Georgia" pitchFamily="34" charset="-122"/>
                <a:cs typeface="Georgia" pitchFamily="34" charset="-120"/>
              </a:rPr>
              <a:t>Jessica Paola Miranda Vitorino</a:t>
            </a:r>
            <a:endParaRPr lang="en-US" sz="700" dirty="0"/>
          </a:p>
          <a:p>
            <a:pPr indent="0" marL="0">
              <a:buNone/>
            </a:pPr>
            <a:r>
              <a:rPr lang="en-US" sz="700" dirty="0">
                <a:solidFill>
                  <a:srgbClr val="2A1D1A"/>
                </a:solidFill>
                <a:latin typeface="Courier New" pitchFamily="34" charset="0"/>
                <a:ea typeface="Courier New" pitchFamily="34" charset="-122"/>
                <a:cs typeface="Courier New" pitchFamily="34" charset="-120"/>
              </a:rPr>
              <a:t>Atua na arquitetura do banco de dados e na robustez das funcionalidades.</a:t>
            </a:r>
            <a:endParaRPr lang="en-US" sz="700" dirty="0"/>
          </a:p>
          <a:p>
            <a:pPr indent="0" marL="0">
              <a:buNone/>
            </a:pPr>
            <a:r>
              <a:rPr lang="en-US" sz="700" dirty="0">
                <a:solidFill>
                  <a:srgbClr val="9A8A82"/>
                </a:solidFill>
                <a:latin typeface="Courier New" pitchFamily="34" charset="0"/>
                <a:ea typeface="Courier New" pitchFamily="34" charset="-122"/>
                <a:cs typeface="Courier New" pitchFamily="34" charset="-120"/>
              </a:rPr>
              <a:t>Front-End</a:t>
            </a:r>
            <a:endParaRPr lang="en-US" sz="700" dirty="0"/>
          </a:p>
          <a:p>
            <a:pPr indent="0" marL="0">
              <a:buNone/>
            </a:pPr>
            <a:r>
              <a:rPr lang="en-US" sz="950" b="1" dirty="0">
                <a:solidFill>
                  <a:srgbClr val="2A1D1A"/>
                </a:solidFill>
                <a:latin typeface="Georgia" pitchFamily="34" charset="0"/>
                <a:ea typeface="Georgia" pitchFamily="34" charset="-122"/>
                <a:cs typeface="Georgia" pitchFamily="34" charset="-120"/>
              </a:rPr>
              <a:t>Miguel Felipi da Silva</a:t>
            </a:r>
            <a:endParaRPr lang="en-US" sz="700" dirty="0"/>
          </a:p>
          <a:p>
            <a:pPr indent="0" marL="0">
              <a:buNone/>
            </a:pPr>
            <a:r>
              <a:rPr lang="en-US" sz="700" dirty="0">
                <a:solidFill>
                  <a:srgbClr val="2A1D1A"/>
                </a:solidFill>
                <a:latin typeface="Courier New" pitchFamily="34" charset="0"/>
                <a:ea typeface="Courier New" pitchFamily="34" charset="-122"/>
                <a:cs typeface="Courier New" pitchFamily="34" charset="-120"/>
              </a:rPr>
              <a:t>Desenvolve interfaces responsivas focadas na melhor experiência da usuária.</a:t>
            </a:r>
            <a:endParaRPr lang="en-US" sz="700" dirty="0"/>
          </a:p>
          <a:p>
            <a:pPr indent="0" marL="0">
              <a:spcAft>
                <a:spcPts val="700"/>
              </a:spcAft>
              <a:buNone/>
            </a:pPr>
            <a:r>
              <a:rPr lang="en-US" sz="800" dirty="0">
                <a:solidFill>
                  <a:srgbClr val="E8863F"/>
                </a:solidFill>
                <a:latin typeface="Courier New" pitchFamily="34" charset="0"/>
                <a:ea typeface="Courier New" pitchFamily="34" charset="-122"/>
                <a:cs typeface="Courier New" pitchFamily="34" charset="-120"/>
              </a:rPr>
              <a:t>[completar número]</a:t>
            </a:r>
            <a:endParaRPr lang="en-US" sz="700" dirty="0"/>
          </a:p>
        </p:txBody>
      </p:sp>
      <p:sp>
        <p:nvSpPr>
          <p:cNvPr id="8" name="Text 6"/>
          <p:cNvSpPr txBox="1"/>
          <p:nvPr/>
        </p:nvSpPr>
        <p:spPr>
          <a:xfrm>
            <a:off x="3429000" y="1371600"/>
            <a:ext cx="2560320" cy="3383280"/>
          </a:xfrm>
          <a:prstGeom prst="rect">
            <a:avLst/>
          </a:prstGeom>
          <a:noFill/>
          <a:ln/>
        </p:spPr>
        <p:txBody>
          <a:bodyPr wrap="square" lIns="0" tIns="0" rIns="0" bIns="0" rtlCol="0" anchor="t"/>
          <a:lstStyle/>
          <a:p>
            <a:pPr indent="0" marL="0">
              <a:buNone/>
            </a:pPr>
            <a:r>
              <a:rPr lang="en-US" sz="700" dirty="0">
                <a:solidFill>
                  <a:srgbClr val="9A8A82"/>
                </a:solidFill>
                <a:latin typeface="Courier New" pitchFamily="34" charset="0"/>
                <a:ea typeface="Courier New" pitchFamily="34" charset="-122"/>
                <a:cs typeface="Courier New" pitchFamily="34" charset="-120"/>
              </a:rPr>
              <a:t>Chatbot</a:t>
            </a:r>
            <a:endParaRPr lang="en-US" sz="700" dirty="0"/>
          </a:p>
          <a:p>
            <a:pPr indent="0" marL="0">
              <a:buNone/>
            </a:pPr>
            <a:r>
              <a:rPr lang="en-US" sz="950" b="1" dirty="0">
                <a:solidFill>
                  <a:srgbClr val="2A1D1A"/>
                </a:solidFill>
                <a:latin typeface="Georgia" pitchFamily="34" charset="0"/>
                <a:ea typeface="Georgia" pitchFamily="34" charset="-122"/>
                <a:cs typeface="Georgia" pitchFamily="34" charset="-120"/>
              </a:rPr>
              <a:t>Priscila Rodrigues</a:t>
            </a:r>
            <a:endParaRPr lang="en-US" sz="700" dirty="0"/>
          </a:p>
          <a:p>
            <a:pPr indent="0" marL="0">
              <a:buNone/>
            </a:pPr>
            <a:r>
              <a:rPr lang="en-US" sz="700" dirty="0">
                <a:solidFill>
                  <a:srgbClr val="2A1D1A"/>
                </a:solidFill>
                <a:latin typeface="Courier New" pitchFamily="34" charset="0"/>
                <a:ea typeface="Courier New" pitchFamily="34" charset="-122"/>
                <a:cs typeface="Courier New" pitchFamily="34" charset="-120"/>
              </a:rPr>
              <a:t>Responsável pelo desenvolvimento da lógica e estruturação do chatbot de apoio.</a:t>
            </a:r>
            <a:endParaRPr lang="en-US" sz="700" dirty="0"/>
          </a:p>
          <a:p>
            <a:pPr indent="0" marL="0">
              <a:buNone/>
            </a:pPr>
            <a:r>
              <a:rPr lang="en-US" sz="700" dirty="0">
                <a:solidFill>
                  <a:srgbClr val="9A8A82"/>
                </a:solidFill>
                <a:latin typeface="Courier New" pitchFamily="34" charset="0"/>
                <a:ea typeface="Courier New" pitchFamily="34" charset="-122"/>
                <a:cs typeface="Courier New" pitchFamily="34" charset="-120"/>
              </a:rPr>
              <a:t>Chatbot</a:t>
            </a:r>
            <a:endParaRPr lang="en-US" sz="700" dirty="0"/>
          </a:p>
          <a:p>
            <a:pPr indent="0" marL="0">
              <a:buNone/>
            </a:pPr>
            <a:r>
              <a:rPr lang="en-US" sz="950" b="1" dirty="0">
                <a:solidFill>
                  <a:srgbClr val="2A1D1A"/>
                </a:solidFill>
                <a:latin typeface="Georgia" pitchFamily="34" charset="0"/>
                <a:ea typeface="Georgia" pitchFamily="34" charset="-122"/>
                <a:cs typeface="Georgia" pitchFamily="34" charset="-120"/>
              </a:rPr>
              <a:t>Brayan da Cruz Souza</a:t>
            </a:r>
            <a:endParaRPr lang="en-US" sz="700" dirty="0"/>
          </a:p>
          <a:p>
            <a:pPr indent="0" marL="0">
              <a:buNone/>
            </a:pPr>
            <a:r>
              <a:rPr lang="en-US" sz="700" dirty="0">
                <a:solidFill>
                  <a:srgbClr val="2A1D1A"/>
                </a:solidFill>
                <a:latin typeface="Courier New" pitchFamily="34" charset="0"/>
                <a:ea typeface="Courier New" pitchFamily="34" charset="-122"/>
                <a:cs typeface="Courier New" pitchFamily="34" charset="-120"/>
              </a:rPr>
              <a:t>Atua na automação de fluxos e na integração do suporte técnico do chatbot.</a:t>
            </a:r>
            <a:endParaRPr lang="en-US" sz="700" dirty="0"/>
          </a:p>
          <a:p>
            <a:pPr indent="0" marL="0">
              <a:buNone/>
            </a:pPr>
            <a:r>
              <a:rPr lang="en-US" sz="700" dirty="0">
                <a:solidFill>
                  <a:srgbClr val="9A8A82"/>
                </a:solidFill>
                <a:latin typeface="Courier New" pitchFamily="34" charset="0"/>
                <a:ea typeface="Courier New" pitchFamily="34" charset="-122"/>
                <a:cs typeface="Courier New" pitchFamily="34" charset="-120"/>
              </a:rPr>
              <a:t>Chatbot</a:t>
            </a:r>
            <a:endParaRPr lang="en-US" sz="700" dirty="0"/>
          </a:p>
          <a:p>
            <a:pPr indent="0" marL="0">
              <a:buNone/>
            </a:pPr>
            <a:r>
              <a:rPr lang="en-US" sz="950" b="1" dirty="0">
                <a:solidFill>
                  <a:srgbClr val="2A1D1A"/>
                </a:solidFill>
                <a:latin typeface="Georgia" pitchFamily="34" charset="0"/>
                <a:ea typeface="Georgia" pitchFamily="34" charset="-122"/>
                <a:cs typeface="Georgia" pitchFamily="34" charset="-120"/>
              </a:rPr>
              <a:t>Lavinia Rodrigues Vieira</a:t>
            </a:r>
            <a:endParaRPr lang="en-US" sz="700" dirty="0"/>
          </a:p>
          <a:p>
            <a:pPr indent="0" marL="0">
              <a:buNone/>
            </a:pPr>
            <a:r>
              <a:rPr lang="en-US" sz="700" dirty="0">
                <a:solidFill>
                  <a:srgbClr val="2A1D1A"/>
                </a:solidFill>
                <a:latin typeface="Courier New" pitchFamily="34" charset="0"/>
                <a:ea typeface="Courier New" pitchFamily="34" charset="-122"/>
                <a:cs typeface="Courier New" pitchFamily="34" charset="-120"/>
              </a:rPr>
              <a:t>Focada na implementação de funcionalidades inteligentes e na experiência do usuário.</a:t>
            </a:r>
            <a:endParaRPr lang="en-US" sz="700" dirty="0"/>
          </a:p>
          <a:p>
            <a:pPr indent="0" marL="0">
              <a:spcAft>
                <a:spcPts val="700"/>
              </a:spcAft>
              <a:buNone/>
            </a:pPr>
            <a:r>
              <a:rPr lang="en-US" sz="800" dirty="0">
                <a:solidFill>
                  <a:srgbClr val="E8863F"/>
                </a:solidFill>
                <a:latin typeface="Courier New" pitchFamily="34" charset="0"/>
                <a:ea typeface="Courier New" pitchFamily="34" charset="-122"/>
                <a:cs typeface="Courier New" pitchFamily="34" charset="-120"/>
              </a:rPr>
              <a:t>[completar número]</a:t>
            </a:r>
            <a:endParaRPr lang="en-US" sz="700" dirty="0"/>
          </a:p>
        </p:txBody>
      </p:sp>
      <p:sp>
        <p:nvSpPr>
          <p:cNvPr id="9" name="Text 7"/>
          <p:cNvSpPr txBox="1"/>
          <p:nvPr/>
        </p:nvSpPr>
        <p:spPr>
          <a:xfrm>
            <a:off x="6126480" y="1371600"/>
            <a:ext cx="2560320" cy="3383280"/>
          </a:xfrm>
          <a:prstGeom prst="rect">
            <a:avLst/>
          </a:prstGeom>
          <a:noFill/>
          <a:ln/>
        </p:spPr>
        <p:txBody>
          <a:bodyPr wrap="square" lIns="0" tIns="0" rIns="0" bIns="0" rtlCol="0" anchor="t"/>
          <a:lstStyle/>
          <a:p>
            <a:pPr indent="0" marL="0">
              <a:buNone/>
            </a:pPr>
            <a:r>
              <a:rPr lang="en-US" sz="700" dirty="0">
                <a:solidFill>
                  <a:srgbClr val="9A8A82"/>
                </a:solidFill>
                <a:latin typeface="Courier New" pitchFamily="34" charset="0"/>
                <a:ea typeface="Courier New" pitchFamily="34" charset="-122"/>
                <a:cs typeface="Courier New" pitchFamily="34" charset="-120"/>
              </a:rPr>
              <a:t>Imagens</a:t>
            </a:r>
            <a:endParaRPr lang="en-US" sz="700" dirty="0"/>
          </a:p>
          <a:p>
            <a:pPr indent="0" marL="0">
              <a:buNone/>
            </a:pPr>
            <a:r>
              <a:rPr lang="en-US" sz="950" b="1" dirty="0">
                <a:solidFill>
                  <a:srgbClr val="2A1D1A"/>
                </a:solidFill>
                <a:latin typeface="Georgia" pitchFamily="34" charset="0"/>
                <a:ea typeface="Georgia" pitchFamily="34" charset="-122"/>
                <a:cs typeface="Georgia" pitchFamily="34" charset="-120"/>
              </a:rPr>
              <a:t>Julia M. M. Cardoso</a:t>
            </a:r>
            <a:endParaRPr lang="en-US" sz="700" dirty="0"/>
          </a:p>
          <a:p>
            <a:pPr indent="0" marL="0">
              <a:buNone/>
            </a:pPr>
            <a:r>
              <a:rPr lang="en-US" sz="700" dirty="0">
                <a:solidFill>
                  <a:srgbClr val="2A1D1A"/>
                </a:solidFill>
                <a:latin typeface="Courier New" pitchFamily="34" charset="0"/>
                <a:ea typeface="Courier New" pitchFamily="34" charset="-122"/>
                <a:cs typeface="Courier New" pitchFamily="34" charset="-120"/>
              </a:rPr>
              <a:t>Responsável pela criação, geração e curadoria de todo o conteúdo visual do projeto.</a:t>
            </a:r>
            <a:endParaRPr lang="en-US" sz="700" dirty="0"/>
          </a:p>
          <a:p>
            <a:pPr indent="0" marL="0">
              <a:buNone/>
            </a:pPr>
            <a:r>
              <a:rPr lang="en-US" sz="700" dirty="0">
                <a:solidFill>
                  <a:srgbClr val="9A8A82"/>
                </a:solidFill>
                <a:latin typeface="Courier New" pitchFamily="34" charset="0"/>
                <a:ea typeface="Courier New" pitchFamily="34" charset="-122"/>
                <a:cs typeface="Courier New" pitchFamily="34" charset="-120"/>
              </a:rPr>
              <a:t>Imagens</a:t>
            </a:r>
            <a:endParaRPr lang="en-US" sz="700" dirty="0"/>
          </a:p>
          <a:p>
            <a:pPr indent="0" marL="0">
              <a:buNone/>
            </a:pPr>
            <a:r>
              <a:rPr lang="en-US" sz="950" b="1" dirty="0">
                <a:solidFill>
                  <a:srgbClr val="2A1D1A"/>
                </a:solidFill>
                <a:latin typeface="Georgia" pitchFamily="34" charset="0"/>
                <a:ea typeface="Georgia" pitchFamily="34" charset="-122"/>
                <a:cs typeface="Georgia" pitchFamily="34" charset="-120"/>
              </a:rPr>
              <a:t>Solange Maria Morais</a:t>
            </a:r>
            <a:endParaRPr lang="en-US" sz="700" dirty="0"/>
          </a:p>
          <a:p>
            <a:pPr indent="0" marL="0">
              <a:buNone/>
            </a:pPr>
            <a:r>
              <a:rPr lang="en-US" sz="700" dirty="0">
                <a:solidFill>
                  <a:srgbClr val="2A1D1A"/>
                </a:solidFill>
                <a:latin typeface="Courier New" pitchFamily="34" charset="0"/>
                <a:ea typeface="Courier New" pitchFamily="34" charset="-122"/>
                <a:cs typeface="Courier New" pitchFamily="34" charset="-120"/>
              </a:rPr>
              <a:t>Colabora no processamento e tratamento das imagens integradas ao sistema.</a:t>
            </a:r>
            <a:endParaRPr lang="en-US" sz="700" dirty="0"/>
          </a:p>
          <a:p>
            <a:pPr indent="0" marL="0">
              <a:buNone/>
            </a:pPr>
            <a:r>
              <a:rPr lang="en-US" sz="700" dirty="0">
                <a:solidFill>
                  <a:srgbClr val="9A8A82"/>
                </a:solidFill>
                <a:latin typeface="Courier New" pitchFamily="34" charset="0"/>
                <a:ea typeface="Courier New" pitchFamily="34" charset="-122"/>
                <a:cs typeface="Courier New" pitchFamily="34" charset="-120"/>
              </a:rPr>
              <a:t>Readme</a:t>
            </a:r>
            <a:endParaRPr lang="en-US" sz="700" dirty="0"/>
          </a:p>
          <a:p>
            <a:pPr indent="0" marL="0">
              <a:buNone/>
            </a:pPr>
            <a:r>
              <a:rPr lang="en-US" sz="950" b="1" dirty="0">
                <a:solidFill>
                  <a:srgbClr val="2A1D1A"/>
                </a:solidFill>
                <a:latin typeface="Georgia" pitchFamily="34" charset="0"/>
                <a:ea typeface="Georgia" pitchFamily="34" charset="-122"/>
                <a:cs typeface="Georgia" pitchFamily="34" charset="-120"/>
              </a:rPr>
              <a:t>Helloa Sousa Monteiro</a:t>
            </a:r>
            <a:endParaRPr lang="en-US" sz="700" dirty="0"/>
          </a:p>
          <a:p>
            <a:pPr indent="0" marL="0">
              <a:buNone/>
            </a:pPr>
            <a:r>
              <a:rPr lang="en-US" sz="700" dirty="0">
                <a:solidFill>
                  <a:srgbClr val="2A1D1A"/>
                </a:solidFill>
                <a:latin typeface="Courier New" pitchFamily="34" charset="0"/>
                <a:ea typeface="Courier New" pitchFamily="34" charset="-122"/>
                <a:cs typeface="Courier New" pitchFamily="34" charset="-120"/>
              </a:rPr>
              <a:t>Gerencia a documentação técnica e organiza o repositório do projeto.</a:t>
            </a:r>
            <a:endParaRPr lang="en-US" sz="700" dirty="0"/>
          </a:p>
          <a:p>
            <a:pPr indent="0" marL="0">
              <a:buNone/>
            </a:pPr>
            <a:r>
              <a:rPr lang="en-US" sz="700" dirty="0">
                <a:solidFill>
                  <a:srgbClr val="9A8A82"/>
                </a:solidFill>
                <a:latin typeface="Courier New" pitchFamily="34" charset="0"/>
                <a:ea typeface="Courier New" pitchFamily="34" charset="-122"/>
                <a:cs typeface="Courier New" pitchFamily="34" charset="-120"/>
              </a:rPr>
              <a:t>Readme</a:t>
            </a:r>
            <a:endParaRPr lang="en-US" sz="700" dirty="0"/>
          </a:p>
          <a:p>
            <a:pPr indent="0" marL="0">
              <a:buNone/>
            </a:pPr>
            <a:r>
              <a:rPr lang="en-US" sz="950" b="1" dirty="0">
                <a:solidFill>
                  <a:srgbClr val="2A1D1A"/>
                </a:solidFill>
                <a:latin typeface="Georgia" pitchFamily="34" charset="0"/>
                <a:ea typeface="Georgia" pitchFamily="34" charset="-122"/>
                <a:cs typeface="Georgia" pitchFamily="34" charset="-120"/>
              </a:rPr>
              <a:t>Talita Monteiro dos Santos</a:t>
            </a:r>
            <a:endParaRPr lang="en-US" sz="700" dirty="0"/>
          </a:p>
          <a:p>
            <a:pPr indent="0" marL="0">
              <a:buNone/>
            </a:pPr>
            <a:r>
              <a:rPr lang="en-US" sz="700" dirty="0">
                <a:solidFill>
                  <a:srgbClr val="2A1D1A"/>
                </a:solidFill>
                <a:latin typeface="Courier New" pitchFamily="34" charset="0"/>
                <a:ea typeface="Courier New" pitchFamily="34" charset="-122"/>
                <a:cs typeface="Courier New" pitchFamily="34" charset="-120"/>
              </a:rPr>
              <a:t>Elabora guias técnicos e mantém o registro detalhado das funcionalidades.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Acolhimento e Orientação para Mulheres</dc:title>
  <dc:subject>PptxGenJS Presentation</dc:subject>
  <dc:creator>PptxGenJS</dc:creator>
  <cp:lastModifiedBy>PptxGenJS</cp:lastModifiedBy>
  <cp:revision>1</cp:revision>
  <dcterms:created xsi:type="dcterms:W3CDTF">2026-10-17T13:48:37Z</dcterms:created>
  <dcterms:modified xsi:type="dcterms:W3CDTF">2026-10-17T13:48:37Z</dcterms:modified>
</cp:coreProperties>
</file>