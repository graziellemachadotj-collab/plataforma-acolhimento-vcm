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Alice"/>
      <p:regular r:id="rId201314"/>
    </p:embeddedFont>
    <p:embeddedFont>
      <p:font typeface="Golos Text"/>
      <p:regular r:id="rId201315"/>
    </p:embeddedFont>
    <p:embeddedFont>
      <p:font typeface="Golos Text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9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>
              <a:alpha val="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9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331" y="2000294"/>
            <a:ext cx="5981550" cy="861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400" spc="-96" kern="100" dirty="0">
                <a:solidFill>
                  <a:srgbClr val="1C2A44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M.A.R.I.A.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68331" y="3036391"/>
            <a:ext cx="598155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acolhimento para quem precisa de ajuda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1582005"/>
            <a:ext cx="6070448" cy="967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400" spc="-34" kern="100" dirty="0">
                <a:solidFill>
                  <a:srgbClr val="1C2A44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 desafio é oferecer ajuda sem aumentar o risco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11182" y="2814042"/>
            <a:ext cx="279393" cy="279400"/>
          </a:xfrm>
          <a:prstGeom prst="ellipse">
            <a:avLst/>
          </a:prstGeom>
          <a:solidFill>
            <a:srgbClr val="F2B9A9"/>
          </a:solidFill>
          <a:ln/>
        </p:spPr>
      </p:sp>
      <p:sp>
        <p:nvSpPr>
          <p:cNvPr id="4" name="Text 2"/>
          <p:cNvSpPr/>
          <p:nvPr/>
        </p:nvSpPr>
        <p:spPr>
          <a:xfrm>
            <a:off x="1168371" y="2773779"/>
            <a:ext cx="5613260" cy="112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Vítimas de violência podem precisar de informação, escuta e segurança ao mesmo tempo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11182" y="4238923"/>
            <a:ext cx="279393" cy="279400"/>
          </a:xfrm>
          <a:prstGeom prst="ellipse">
            <a:avLst/>
          </a:prstGeom>
          <a:solidFill>
            <a:srgbClr val="F2B9A9"/>
          </a:solidFill>
          <a:ln/>
        </p:spPr>
      </p:sp>
      <p:sp>
        <p:nvSpPr>
          <p:cNvPr id="6" name="Text 4"/>
          <p:cNvSpPr/>
          <p:nvPr/>
        </p:nvSpPr>
        <p:spPr>
          <a:xfrm>
            <a:off x="1168371" y="4198660"/>
            <a:ext cx="5613260" cy="112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 momento de sair da relação pode elevar o risco; por isso, a conversa não deve pressionar a separação</a:t>
            </a:r>
            <a:endParaRPr lang="en-US" sz="2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10065" y="1671401"/>
            <a:ext cx="6070448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400" spc="-34" kern="100" dirty="0">
                <a:solidFill>
                  <a:srgbClr val="1C2A44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Acolher vem antes de orientar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10065" y="2419846"/>
            <a:ext cx="279393" cy="279400"/>
          </a:xfrm>
          <a:prstGeom prst="ellipse">
            <a:avLst/>
          </a:prstGeom>
          <a:solidFill>
            <a:srgbClr val="F2B9A9"/>
          </a:solidFill>
          <a:ln/>
        </p:spPr>
      </p:sp>
      <p:sp>
        <p:nvSpPr>
          <p:cNvPr id="5" name="Text 2"/>
          <p:cNvSpPr/>
          <p:nvPr/>
        </p:nvSpPr>
        <p:spPr>
          <a:xfrm>
            <a:off x="5867253" y="2379583"/>
            <a:ext cx="5613260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Escutar primeiro, sem julgamento e sem forçar relatos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410065" y="3471366"/>
            <a:ext cx="279393" cy="279400"/>
          </a:xfrm>
          <a:prstGeom prst="ellipse">
            <a:avLst/>
          </a:prstGeom>
          <a:solidFill>
            <a:srgbClr val="F2B9A9"/>
          </a:solidFill>
          <a:ln/>
        </p:spPr>
      </p:sp>
      <p:sp>
        <p:nvSpPr>
          <p:cNvPr id="7" name="Text 4"/>
          <p:cNvSpPr/>
          <p:nvPr/>
        </p:nvSpPr>
        <p:spPr>
          <a:xfrm>
            <a:off x="5867253" y="3431103"/>
            <a:ext cx="5613260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Fazer uma pergunta por vez e pedir permissão antes de mudar de assunto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5410065" y="4522887"/>
            <a:ext cx="279393" cy="279400"/>
          </a:xfrm>
          <a:prstGeom prst="ellipse">
            <a:avLst/>
          </a:prstGeom>
          <a:solidFill>
            <a:srgbClr val="F2B9A9"/>
          </a:solidFill>
          <a:ln/>
        </p:spPr>
      </p:sp>
      <p:sp>
        <p:nvSpPr>
          <p:cNvPr id="9" name="Text 6"/>
          <p:cNvSpPr/>
          <p:nvPr/>
        </p:nvSpPr>
        <p:spPr>
          <a:xfrm>
            <a:off x="5867253" y="4482624"/>
            <a:ext cx="5613260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Respeitar recusas: “agora não” não encerra o vínculo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0278"/>
            <a:ext cx="10972526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400" spc="-34" kern="100" dirty="0">
                <a:solidFill>
                  <a:srgbClr val="1C2A44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Seis formas de violência que precisam ser reconhecidas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321792"/>
            <a:ext cx="571486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2111732"/>
            <a:ext cx="3581310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Física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09585" y="2588875"/>
            <a:ext cx="358131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Agredir corporalmente ou forçar contato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291" y="1321792"/>
            <a:ext cx="571486" cy="571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3291" y="2111732"/>
            <a:ext cx="3505112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Psicológica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4343291" y="2588875"/>
            <a:ext cx="350511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Manipulação, humilhação e isolamento</a:t>
            </a:r>
            <a:endParaRPr lang="en-US" sz="1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800" y="1321792"/>
            <a:ext cx="571486" cy="571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00800" y="2111732"/>
            <a:ext cx="3581310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Sexual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8000800" y="2588875"/>
            <a:ext cx="358131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Atos sem consentimento ou coerção</a:t>
            </a:r>
            <a:endParaRPr lang="en-US" sz="1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3370759"/>
            <a:ext cx="571486" cy="571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9585" y="4160699"/>
            <a:ext cx="3581310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Patrimonial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609585" y="4637842"/>
            <a:ext cx="358131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Controlar bens, dinheiro ou impedir trabalho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4343291" y="3382824"/>
            <a:ext cx="3505112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Moral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8000800" y="3382824"/>
            <a:ext cx="3581310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Vicária</a:t>
            </a:r>
            <a:endParaRPr lang="en-US" sz="1900" dirty="0"/>
          </a:p>
        </p:txBody>
      </p:sp>
      <p:sp>
        <p:nvSpPr>
          <p:cNvPr id="17" name="Text 11"/>
          <p:cNvSpPr/>
          <p:nvPr/>
        </p:nvSpPr>
        <p:spPr>
          <a:xfrm>
            <a:off x="609585" y="5484177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Explicações breves ajudam a pessoa a nomear o que está vivendo. A identificação acontece com cuidado, sem transformar a conversa em interrogatório.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594" y="228600"/>
            <a:ext cx="3361646" cy="1904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594" y="2537879"/>
            <a:ext cx="11734506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400" spc="-34" kern="100" dirty="0">
                <a:solidFill>
                  <a:srgbClr val="1C2A44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 conversa avança por convites, não por menus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228594" y="3239393"/>
            <a:ext cx="2705032" cy="3137793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7330" dist="74930" dir="5400000">
              <a:srgbClr val="3c2c18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57189" y="3467993"/>
            <a:ext cx="88431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1F5B4C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189" y="3838873"/>
            <a:ext cx="2247844" cy="19050"/>
          </a:xfrm>
          <a:prstGeom prst="rect">
            <a:avLst/>
          </a:prstGeom>
          <a:solidFill>
            <a:srgbClr val="8DB3A0"/>
          </a:solidFill>
          <a:ln/>
        </p:spPr>
      </p:sp>
      <p:sp>
        <p:nvSpPr>
          <p:cNvPr id="7" name="Text 4"/>
          <p:cNvSpPr/>
          <p:nvPr/>
        </p:nvSpPr>
        <p:spPr>
          <a:xfrm>
            <a:off x="457189" y="4013776"/>
            <a:ext cx="2247844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Começar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189" y="4533761"/>
            <a:ext cx="2247844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Começar com uma pergunta aberta sobre como a pessoa está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238419" y="3239393"/>
            <a:ext cx="2705032" cy="3137793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7330" dist="74930" dir="5400000">
              <a:srgbClr val="3c2c18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67013" y="3467993"/>
            <a:ext cx="91030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1F5B4C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67013" y="3838873"/>
            <a:ext cx="2247844" cy="19050"/>
          </a:xfrm>
          <a:prstGeom prst="rect">
            <a:avLst/>
          </a:prstGeom>
          <a:solidFill>
            <a:srgbClr val="8DB3A0"/>
          </a:solidFill>
          <a:ln/>
        </p:spPr>
      </p:sp>
      <p:sp>
        <p:nvSpPr>
          <p:cNvPr id="12" name="Text 9"/>
          <p:cNvSpPr/>
          <p:nvPr/>
        </p:nvSpPr>
        <p:spPr>
          <a:xfrm>
            <a:off x="3467013" y="4013776"/>
            <a:ext cx="2247844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Acolher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467013" y="4533761"/>
            <a:ext cx="2247844" cy="1599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Acolher cada resposta e perguntar o que mais pesa naquele momento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48244" y="3239393"/>
            <a:ext cx="2705032" cy="3137793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7330" dist="74930" dir="5400000">
              <a:srgbClr val="3c2c18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76838" y="3467993"/>
            <a:ext cx="90911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1F5B4C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6476838" y="3838873"/>
            <a:ext cx="2247844" cy="19050"/>
          </a:xfrm>
          <a:prstGeom prst="rect">
            <a:avLst/>
          </a:prstGeom>
          <a:solidFill>
            <a:srgbClr val="8DB3A0"/>
          </a:solidFill>
          <a:ln/>
        </p:spPr>
      </p:sp>
      <p:sp>
        <p:nvSpPr>
          <p:cNvPr id="17" name="Text 14"/>
          <p:cNvSpPr/>
          <p:nvPr/>
        </p:nvSpPr>
        <p:spPr>
          <a:xfrm>
            <a:off x="6476838" y="4013776"/>
            <a:ext cx="2247844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Oferecer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76838" y="4533761"/>
            <a:ext cx="2247844" cy="1599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Oferecer um tópico com permissão: “Posso te passar os telefones de ajuda?”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258068" y="3239393"/>
            <a:ext cx="2705032" cy="3137793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7330" dist="74930" dir="5400000">
              <a:srgbClr val="3c2c18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486663" y="3467993"/>
            <a:ext cx="91169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1F5B4C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9486663" y="3838873"/>
            <a:ext cx="2247844" cy="19050"/>
          </a:xfrm>
          <a:prstGeom prst="rect">
            <a:avLst/>
          </a:prstGeom>
          <a:solidFill>
            <a:srgbClr val="8DB3A0"/>
          </a:solidFill>
          <a:ln/>
        </p:spPr>
      </p:sp>
      <p:sp>
        <p:nvSpPr>
          <p:cNvPr id="22" name="Text 19"/>
          <p:cNvSpPr/>
          <p:nvPr/>
        </p:nvSpPr>
        <p:spPr>
          <a:xfrm>
            <a:off x="9486663" y="4013776"/>
            <a:ext cx="2247844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Retomar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9486663" y="4533761"/>
            <a:ext cx="2247844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Retomar a escuta depois de cada orientação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0278"/>
            <a:ext cx="10972526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400" spc="-34" kern="100" dirty="0">
                <a:solidFill>
                  <a:srgbClr val="1C2A44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Segurança tem prioridade máxima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332270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Quando há emergência, a conversa muda de caminho imediatamente.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416" y="1848148"/>
            <a:ext cx="9030863" cy="4063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08288" y="1648057"/>
            <a:ext cx="1583565" cy="594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00" spc="-18" kern="100" dirty="0">
                <a:solidFill>
                  <a:srgbClr val="1E2533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Sinal de Emergência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308288" y="2336568"/>
            <a:ext cx="1583565" cy="656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25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Desvia imediatamente para o protocolo de ajuda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488" y="3121503"/>
            <a:ext cx="352196" cy="3522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04065" y="4958631"/>
            <a:ext cx="1592596" cy="297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00" spc="-18" kern="100" dirty="0">
                <a:solidFill>
                  <a:srgbClr val="1E2533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Acesso Rápido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304065" y="5349782"/>
            <a:ext cx="1592596" cy="437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25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Contatos 190 e 180 disponíveis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265" y="4403890"/>
            <a:ext cx="352196" cy="35220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36628" y="1616449"/>
            <a:ext cx="1583564" cy="594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00" spc="-18" kern="100" dirty="0">
                <a:solidFill>
                  <a:srgbClr val="1E2533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Orientação de Risco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7236628" y="2304960"/>
            <a:ext cx="1583564" cy="656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25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Suporte para suicídio, saúde e plano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3919" y="3085380"/>
            <a:ext cx="352196" cy="3522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0278"/>
            <a:ext cx="10972526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400" spc="-34" kern="100" dirty="0">
                <a:solidFill>
                  <a:srgbClr val="1C2A44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 que a M.A.R.I.A. pode oferecer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321796"/>
            <a:ext cx="457189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5368" y="1340525"/>
            <a:ext cx="1028674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Telefones e plano de segurança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295368" y="1860510"/>
            <a:ext cx="1028674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Telefones de ajuda, plano de segurança e mensagens prontas para a rede de apoio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2474817"/>
            <a:ext cx="457189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95368" y="2493546"/>
            <a:ext cx="1028674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Caminhos possíveis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295368" y="3013531"/>
            <a:ext cx="1028674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Orientações sobre denúncia, saída da relação e situações especiais</a:t>
            </a:r>
            <a:endParaRPr lang="en-US" sz="1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627838"/>
            <a:ext cx="457189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95368" y="3646567"/>
            <a:ext cx="1028674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Contato contínuo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295368" y="4166553"/>
            <a:ext cx="1028674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Check-ins para saber como a pessoa está se sentindo após cada assunto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1242876"/>
            <a:ext cx="6095848" cy="967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400" spc="-34" kern="100" dirty="0">
                <a:solidFill>
                  <a:srgbClr val="1C2A44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 ajuda local começa pela localização da vítima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11182" y="2474913"/>
            <a:ext cx="279393" cy="279400"/>
          </a:xfrm>
          <a:prstGeom prst="ellipse">
            <a:avLst/>
          </a:prstGeom>
          <a:solidFill>
            <a:srgbClr val="F2B9A9"/>
          </a:solidFill>
          <a:ln/>
        </p:spPr>
      </p:sp>
      <p:sp>
        <p:nvSpPr>
          <p:cNvPr id="4" name="Text 2"/>
          <p:cNvSpPr/>
          <p:nvPr/>
        </p:nvSpPr>
        <p:spPr>
          <a:xfrm>
            <a:off x="1168371" y="2434650"/>
            <a:ext cx="5638659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 conversa pergunta se a pessoa quer buscar apoio próximo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11182" y="3526433"/>
            <a:ext cx="279393" cy="279400"/>
          </a:xfrm>
          <a:prstGeom prst="ellipse">
            <a:avLst/>
          </a:prstGeom>
          <a:solidFill>
            <a:srgbClr val="F2B9A9"/>
          </a:solidFill>
          <a:ln/>
        </p:spPr>
      </p:sp>
      <p:sp>
        <p:nvSpPr>
          <p:cNvPr id="6" name="Text 4"/>
          <p:cNvSpPr/>
          <p:nvPr/>
        </p:nvSpPr>
        <p:spPr>
          <a:xfrm>
            <a:off x="1168371" y="3486170"/>
            <a:ext cx="5638659" cy="112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Com cidade e estado, monta buscas para delegacia da mulher, centro de referência, Defensoria, CREAS e hospital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11182" y="4951313"/>
            <a:ext cx="279393" cy="279400"/>
          </a:xfrm>
          <a:prstGeom prst="ellipse">
            <a:avLst/>
          </a:prstGeom>
          <a:solidFill>
            <a:srgbClr val="F2B9A9"/>
          </a:solidFill>
          <a:ln/>
        </p:spPr>
      </p:sp>
      <p:sp>
        <p:nvSpPr>
          <p:cNvPr id="8" name="Text 6"/>
          <p:cNvSpPr/>
          <p:nvPr/>
        </p:nvSpPr>
        <p:spPr>
          <a:xfrm>
            <a:off x="1168371" y="4911050"/>
            <a:ext cx="5638659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Os links não inventam endereços e avisam quando a informação não foi confirmada</a:t>
            </a:r>
            <a:endParaRPr lang="en-US" sz="2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0278"/>
            <a:ext cx="10972526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400" spc="-34" kern="100" dirty="0">
                <a:solidFill>
                  <a:srgbClr val="1C2A44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Privacidade e autonomia fazem parte do cuidado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321792"/>
            <a:ext cx="3505112" cy="3409454"/>
          </a:xfrm>
          <a:prstGeom prst="roundRect">
            <a:avLst>
              <a:gd name="adj" fmla="val 1006"/>
            </a:avLst>
          </a:prstGeom>
          <a:noFill/>
          <a:ln w="25399">
            <a:solidFill>
              <a:srgbClr val="BBC8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3578" y="1594525"/>
            <a:ext cx="299712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Privacidade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3578" y="2104033"/>
            <a:ext cx="2997125" cy="2373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 protótipo funciona em um único arquivo, sem servidor, conta ou chave de API</a:t>
            </a:r>
            <a:endParaRPr lang="en-US" sz="1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 pessoa pode apagar a conversa e sair rapidamente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1886" y="1321792"/>
            <a:ext cx="7010225" cy="3409454"/>
          </a:xfrm>
          <a:prstGeom prst="roundRect">
            <a:avLst>
              <a:gd name="adj" fmla="val 17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7330" dist="74930" dir="5400000">
              <a:srgbClr val="3c2c18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480" y="1569125"/>
            <a:ext cx="655303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Autonomia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00480" y="2089110"/>
            <a:ext cx="678163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 orientação é oferecer caminhos, nunca decidir pela vítima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0278"/>
            <a:ext cx="10972526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400" spc="-34" kern="100" dirty="0">
                <a:solidFill>
                  <a:srgbClr val="1C2A44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 protótipo é um ponto de partida, não a rede inteira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321792"/>
            <a:ext cx="3505112" cy="4496395"/>
          </a:xfrm>
          <a:prstGeom prst="roundRect">
            <a:avLst>
              <a:gd name="adj" fmla="val 978"/>
            </a:avLst>
          </a:prstGeom>
          <a:noFill/>
          <a:ln w="25399">
            <a:solidFill>
              <a:srgbClr val="BBC8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377" y="1645325"/>
            <a:ext cx="289552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Limites atuais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377" y="2154833"/>
            <a:ext cx="2895528" cy="3333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 texto livre depende de palavras-chave e pode responder genericamente quando não reconhece a frase</a:t>
            </a:r>
            <a:endParaRPr lang="en-US" sz="1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Não há busca local em tempo real; os links de mapas e o 180 complementam essa lacuna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1886" y="1321792"/>
            <a:ext cx="7010225" cy="4496395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7330" dist="74930" dir="5400000">
              <a:srgbClr val="3c2c18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51279" y="1619925"/>
            <a:ext cx="645143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Antes de publicar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51279" y="3429357"/>
            <a:ext cx="645143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5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Revisar o conteúdo com psicólogas, assistentes sociais e advogadas da rede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340"/>
            <a:ext cx="10972526" cy="322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250" spc="-23" kern="100" dirty="0">
                <a:solidFill>
                  <a:srgbClr val="1C2A44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Equipe do projeto e frentes de atuação</a:t>
            </a:r>
            <a:endParaRPr lang="en-US" sz="2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034355"/>
          <a:ext cx="10972526" cy="914400"/>
        </p:xfrm>
        <a:graphic>
          <a:graphicData uri="http://schemas.openxmlformats.org/drawingml/2006/table">
            <a:tbl>
              <a:tblPr/>
              <a:tblGrid>
                <a:gridCol w="2633398"/>
                <a:gridCol w="5047330"/>
                <a:gridCol w="3291797"/>
              </a:tblGrid>
              <a:tr h="306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A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Desenvolvimento / Função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A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Descrição / Atuação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A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Nome e Telefone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Orientação / Professor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Professor orientador especializado em Inteligência Artificial e Aprendizagem Interativa.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Álvaro Machado Júnior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/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Back-End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Responsável pela estruturação do back-end e otimização das consultas de dados.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Dayene Souza Silva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/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Back-End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Atua na arquitetura do banco de dados e na robustez das funcionalidades.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Jessica Paola Miranda Vitorino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/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Front-End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Desenvolve interfaces responsivas focadas na melhor experiência da usuária.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Miguel Felipi da Silva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/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Chatbot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Responsável pelo desenvolvimento da lógica e estruturação do chatbot de apoio.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Priscila Rodrigues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/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Chatbot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Atua na automação de fluxos e na integração do suporte técnico do chatbot.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Brayan da Cruz Souza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/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Chatbot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Focada na implementação de funcionalidades inteligentes e na experiência do usuário.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Lavinia Rodrigues Vieira (Lavinia R. Viera)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/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29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Imagens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Responsável pela criação, geração e curadoria de todo o conteúdo visual do projeto.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Julia Maria Morais Cardoso (Julia M. M. Cardoso)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/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Imagens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Colabora no processamento e tratamento das imagens integradas ao sistema.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Solange Maria Morais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/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Readme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Gerencia a documentação técnica e organiza o repositório do projeto.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Helloa Sousa Monteiro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/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84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Readme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Elabora guias técnicos e mantém o registro detalhado das funcionalidades.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Talita Monteiro dos Santos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53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/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14490" marR="114490" marT="61061" marB="61061" anchor="ctr">
                    <a:lnL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2026-10-17T14:38:49Z</dcterms:created>
  <dcterms:modified xsi:type="dcterms:W3CDTF">2026-10-17T14:38:49Z</dcterms:modified>
</cp:coreProperties>
</file>