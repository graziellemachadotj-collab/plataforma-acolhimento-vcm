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5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eue Haas Grotesk Text Pro" panose="020B0504020202020204" pitchFamily="34" charset="0"/>
      <p:regular r:id="rId17"/>
      <p:bold r:id="rId18"/>
      <p:italic r:id="rId19"/>
      <p:boldItalic r:id="rId20"/>
    </p:embeddedFont>
    <p:embeddedFont>
      <p:font typeface="Overpass Bold" panose="020B0604020202020204" charset="0"/>
      <p:regular r:id="rId21"/>
    </p:embeddedFont>
    <p:embeddedFont>
      <p:font typeface="Public Sans" panose="020B0604020202020204" charset="0"/>
      <p:regular r:id="rId22"/>
    </p:embeddedFont>
    <p:embeddedFont>
      <p:font typeface="Public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9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95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435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87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963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70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394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726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815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913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310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599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4874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15360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23646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085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74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7269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3384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2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52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0392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5556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5791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196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8836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5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0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9973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F0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79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4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  <p:sldLayoutId id="2147483880" r:id="rId22"/>
    <p:sldLayoutId id="2147483881" r:id="rId23"/>
    <p:sldLayoutId id="2147483882" r:id="rId24"/>
    <p:sldLayoutId id="2147483883" r:id="rId25"/>
    <p:sldLayoutId id="2147483884" r:id="rId26"/>
    <p:sldLayoutId id="2147483885" r:id="rId27"/>
    <p:sldLayoutId id="2147483886" r:id="rId28"/>
    <p:sldLayoutId id="2147483887" r:id="rId29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lanalto.gov.br/ccivil_03/_ato2004-2006/2006/lei/l11340.ht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870200"/>
            <a:ext cx="7746806" cy="2913063"/>
          </a:xfrm>
          <a:prstGeom prst="roundRect">
            <a:avLst>
              <a:gd name="adj" fmla="val 8370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9776" y="3149600"/>
            <a:ext cx="76960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COMBATE À VIOLÊNCIA CONTRA A MULHER · DEFESA TÉCNICA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39776" y="3448645"/>
            <a:ext cx="7086423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100" spc="-54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Plataforma de Acolhimento,</a:t>
            </a:r>
            <a:endParaRPr lang="en-US" sz="36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600" b="1" kern="100" spc="-54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Orientação e Resposta Rápida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39776" y="4602599"/>
            <a:ext cx="708642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Backend seguro, público e anônimo para apoiar mulheres em situação de violência doméstica. Ajuda sem cadastro e conta opcional. Stack: Python com FastAPI, PostgreSQL e </a:t>
            </a:r>
            <a:r>
              <a:rPr lang="en-US" sz="1700" dirty="0" err="1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PostGIS</a:t>
            </a: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1C20415-733B-ACDB-C777-9210F04CC597}"/>
              </a:ext>
            </a:extLst>
          </p:cNvPr>
          <p:cNvSpPr/>
          <p:nvPr/>
        </p:nvSpPr>
        <p:spPr>
          <a:xfrm>
            <a:off x="3921747" y="6271558"/>
            <a:ext cx="5720016" cy="400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b="1" kern="100" spc="-29" dirty="0">
                <a:solidFill>
                  <a:srgbClr val="20342A"/>
                </a:solidFill>
                <a:latin typeface="Overpass Bold" pitchFamily="34" charset="0"/>
              </a:rPr>
              <a:t>Autoria Backend: </a:t>
            </a:r>
            <a:r>
              <a:rPr lang="en-US" sz="1500" dirty="0" err="1"/>
              <a:t>Dayene</a:t>
            </a:r>
            <a:r>
              <a:rPr lang="en-US" sz="1500" dirty="0"/>
              <a:t> Souza Silva e Jessica Paola Miranda Vitorino</a:t>
            </a:r>
          </a:p>
          <a:p>
            <a:r>
              <a:rPr lang="pt-BR" sz="1500" b="1" kern="100" spc="-29" dirty="0">
                <a:solidFill>
                  <a:srgbClr val="20342A"/>
                </a:solidFill>
                <a:latin typeface="Overpass Bold" pitchFamily="34" charset="0"/>
              </a:rPr>
              <a:t>Professor orientador especializado em Inteligência Artificial: </a:t>
            </a:r>
            <a:r>
              <a:rPr lang="pt-BR" sz="1500" dirty="0"/>
              <a:t>Álvaro Machado Júnior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PRINCÍPIO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807045"/>
            <a:ext cx="1117572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 primeiro princípio é acesso sem barreiras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503303"/>
            <a:ext cx="116837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porta de entrada não pode exigir confiança antecipada.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7987" y="4386263"/>
            <a:ext cx="2565336" cy="1963738"/>
          </a:xfrm>
          <a:prstGeom prst="roundRect">
            <a:avLst>
              <a:gd name="adj" fmla="val 12417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79413" y="4357688"/>
            <a:ext cx="2622385" cy="114300"/>
          </a:xfrm>
          <a:custGeom>
            <a:avLst/>
            <a:gdLst/>
            <a:ahLst/>
            <a:cxnLst/>
            <a:rect l="l" t="t" r="r" b="b"/>
            <a:pathLst>
              <a:path w="2622385" h="114300">
                <a:moveTo>
                  <a:pt x="57149" y="0"/>
                </a:moveTo>
                <a:lnTo>
                  <a:pt x="2565237" y="0"/>
                </a:lnTo>
                <a:arcTo wR="57149" hR="57150" stAng="16200000" swAng="5400000"/>
                <a:lnTo>
                  <a:pt x="262238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6582" y="4949507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Ajuda pública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6582" y="5379323"/>
            <a:ext cx="210814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Guias, sinais de alerta e busca de serviços sem cadastro ou login.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78115" y="4386263"/>
            <a:ext cx="2565336" cy="1963738"/>
          </a:xfrm>
          <a:prstGeom prst="roundRect">
            <a:avLst>
              <a:gd name="adj" fmla="val 12417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349541" y="4357688"/>
            <a:ext cx="2622385" cy="114300"/>
          </a:xfrm>
          <a:custGeom>
            <a:avLst/>
            <a:gdLst/>
            <a:ahLst/>
            <a:cxnLst/>
            <a:rect l="l" t="t" r="r" b="b"/>
            <a:pathLst>
              <a:path w="2622385" h="114300">
                <a:moveTo>
                  <a:pt x="57149" y="0"/>
                </a:moveTo>
                <a:lnTo>
                  <a:pt x="2565237" y="0"/>
                </a:lnTo>
                <a:arcTo wR="57149" hR="57150" stAng="16200000" swAng="5400000"/>
                <a:lnTo>
                  <a:pt x="262238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06710" y="4949507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Conta opcional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06710" y="5379323"/>
            <a:ext cx="210814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Somente para contatos de emergência e diário de evidências.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4386263"/>
            <a:ext cx="2565336" cy="1963738"/>
          </a:xfrm>
          <a:prstGeom prst="roundRect">
            <a:avLst>
              <a:gd name="adj" fmla="val 12417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219669" y="4357688"/>
            <a:ext cx="2622385" cy="114300"/>
          </a:xfrm>
          <a:custGeom>
            <a:avLst/>
            <a:gdLst/>
            <a:ahLst/>
            <a:cxnLst/>
            <a:rect l="l" t="t" r="r" b="b"/>
            <a:pathLst>
              <a:path w="2622385" h="114300">
                <a:moveTo>
                  <a:pt x="57149" y="0"/>
                </a:moveTo>
                <a:lnTo>
                  <a:pt x="2565237" y="0"/>
                </a:lnTo>
                <a:arcTo wR="57149" hR="57150" stAng="16200000" swAng="5400000"/>
                <a:lnTo>
                  <a:pt x="262238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76838" y="4949507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Stack enxuta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76838" y="5379323"/>
            <a:ext cx="210814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 com FastAPI, PostgreSQL e PostGIS.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18372" y="4386263"/>
            <a:ext cx="2565336" cy="1963738"/>
          </a:xfrm>
          <a:prstGeom prst="roundRect">
            <a:avLst>
              <a:gd name="adj" fmla="val 12417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089798" y="4357688"/>
            <a:ext cx="2622385" cy="114300"/>
          </a:xfrm>
          <a:custGeom>
            <a:avLst/>
            <a:gdLst/>
            <a:ahLst/>
            <a:cxnLst/>
            <a:rect l="l" t="t" r="r" b="b"/>
            <a:pathLst>
              <a:path w="2622385" h="114300">
                <a:moveTo>
                  <a:pt x="57149" y="0"/>
                </a:moveTo>
                <a:lnTo>
                  <a:pt x="2565237" y="0"/>
                </a:lnTo>
                <a:arcTo wR="57149" hR="57150" stAng="16200000" swAng="5400000"/>
                <a:lnTo>
                  <a:pt x="262238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346966" y="4949507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Anonimato padrão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46966" y="5379323"/>
            <a:ext cx="210814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 registrar IP ou dados pessoais em logs.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35064" y="4030663"/>
            <a:ext cx="711182" cy="711200"/>
          </a:xfrm>
          <a:prstGeom prst="ellipse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34" y="4224338"/>
            <a:ext cx="323842" cy="32385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305192" y="4030663"/>
            <a:ext cx="711182" cy="711200"/>
          </a:xfrm>
          <a:prstGeom prst="ellipse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62" y="4224338"/>
            <a:ext cx="323842" cy="32385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175320" y="4030663"/>
            <a:ext cx="711182" cy="711200"/>
          </a:xfrm>
          <a:prstGeom prst="ellipse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991" y="4224338"/>
            <a:ext cx="323842" cy="32385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0045449" y="4030663"/>
            <a:ext cx="711182" cy="711200"/>
          </a:xfrm>
          <a:prstGeom prst="ellipse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119" y="4224338"/>
            <a:ext cx="32384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6230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75081" y="508000"/>
            <a:ext cx="74166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775081" y="807045"/>
            <a:ext cx="6908627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Arquitetura separa descoberta pública de dados protegidos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775081" y="1978263"/>
            <a:ext cx="690862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mesma plataforma oferece orientação aberta e proteção rigorosa quando a usuária escolhe guardar algo.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081" y="2770981"/>
            <a:ext cx="5644215" cy="3174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204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100" spc="13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ENDPOINTS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07987" y="792063"/>
            <a:ext cx="11175720" cy="456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50" b="1" kern="100" spc="-33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Ajuda pública e rotas protegidas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07987" y="1433667"/>
            <a:ext cx="1117572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Orientação sem cadastro; autenticação só para contatos, evidências e alertas.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888133"/>
          <a:ext cx="11175721" cy="4979858"/>
        </p:xfrm>
        <a:graphic>
          <a:graphicData uri="http://schemas.openxmlformats.org/drawingml/2006/table">
            <a:tbl>
              <a:tblPr/>
              <a:tblGrid>
                <a:gridCol w="178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2034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Acesso</a:t>
                      </a:r>
                      <a:endParaRPr lang="en-US" sz="16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2034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Endpoint</a:t>
                      </a:r>
                      <a:endParaRPr lang="en-US" sz="16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2034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Função</a:t>
                      </a:r>
                      <a:endParaRPr lang="en-US" sz="16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Público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GET /api/v1/services/nearby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Serviços por latitude/longitude, raio e tipo.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Público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GET /api/v1/services/by-cep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Converte CEP em região de busca.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Público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GET /api/v1/red-flags/questions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Perguntas da autoavaliação.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Público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 /api/v1/red-flags/evaluate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Avaliação sem persistência.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Público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GET /api/v1/support/contacts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Canais oficiais, incluindo Ligue 180 e 190.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4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Público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 /api/v1/quick-escape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Encerra a sessão e limpa dados temporários.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Protegido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 /api/v1/auth/register e POST /api/v1/auth/login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Conta opcional, com coleta mínima.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Protegido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POST/GET/DELETE /api/v1/trusted-contacts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Rede de confiança.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30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Protegido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POST/GET/DELETE /api/v1/evidence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Diário de evidências sob controle da usuária.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Protegido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 /api/v1/emergency-alerts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Alerta consentido; localização aproximada.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5584" marR="155584" marT="82978" marB="8297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BANCO E POSTGIS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807045"/>
            <a:ext cx="1117572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Banco separa dados sensíveis e busca por distância real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503303"/>
            <a:ext cx="116837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PostgreSQL com extensão PostGIS; localização em GEOGRAPHY(Point, 4326).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993801"/>
          <a:ext cx="11175721" cy="2645700"/>
        </p:xfrm>
        <a:graphic>
          <a:graphicData uri="http://schemas.openxmlformats.org/drawingml/2006/table">
            <a:tbl>
              <a:tblPr/>
              <a:tblGrid>
                <a:gridCol w="3129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034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Tabela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0342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Conteúdo principal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users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ID pseudônimo, credencial derivada, status de consentimento e timestamps.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services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Nome, tipo, telefone, site, endereço e location GEOGRAPHY(Point, 4326).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service_types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DEAM, Defensoria, ONG, abrigo, saúde e assistência social.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trusted_contacts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Usuária, nome, canal, contato cifrado e consentimento.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evidence_entries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4352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Relato cifrado, metadados mínimos, hash de integridade e timestamps.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07987" y="4833243"/>
            <a:ext cx="11175720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Índice GIST sobre location para consultas espaciais rápidas.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ST_DWithin para o raio, ST_Distance para a distância real e ORDER BY por distância.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Endereço exato nunca armazenado por padrão.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702044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DIÁRIO DE EVIDÊNCIAS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807045"/>
            <a:ext cx="6512457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 diário é opcional, protegido e controlado pela usuária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978263"/>
            <a:ext cx="651245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Organiza e preserva integridade; não substitui orientação psicológica, jurídica ou atendimento de emergência.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87" y="2770981"/>
            <a:ext cx="6512457" cy="3238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435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Conteúdo cifrado.</a:t>
            </a: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Relatos, fotos e áudios entram cifrados; o servidor não lê o conteúdo em claro.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435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Metadados mínimos.</a:t>
            </a: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Só o necessário para integridade, organização e exportação.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435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Integridade verificável.</a:t>
            </a: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Hash e timestamp ajudam a detectar alterações.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435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Alerta consentido.</a:t>
            </a: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Contatos previamente cadastrados e localização aproximada, com consentimento explícito.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435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Testar antes de confiar.</a:t>
            </a: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Recuperação e exclusão precisam de threat modeling e testes de abuso.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124" y="0"/>
            <a:ext cx="43585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17572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SQL de proximidade: PostGIS responde por distância real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1204258"/>
            <a:ext cx="116837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Exemplo: DEAM mais próxima em até 20 km, a partir de um ponto de busca e índice espacial.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7987" y="1743968"/>
            <a:ext cx="11175720" cy="3194844"/>
          </a:xfrm>
          <a:prstGeom prst="roundRect">
            <a:avLst>
              <a:gd name="adj" fmla="val 6082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67041" y="1959868"/>
            <a:ext cx="10657613" cy="276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services_location_gix ON services USING GIST (location);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name, phone, website,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ST_Distance(location, ST_SetSRID(ST_MakePoint(:longitude, :latitude), 4326)::geography) AS distance_m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services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service_type = 'DEAM'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ST_DWithin(location, ST_SetSRID(ST_MakePoint(:longitude, :latitude), 4326)::geography, 20000)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location &lt;-&gt; ST_SetSRID(ST_MakePoint(:longitude, :latitude), 4326)::geography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PRIVACY BY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807045"/>
            <a:ext cx="1117572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Privacy by design precisa ser uma regra técnica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503303"/>
            <a:ext cx="116837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Privacidade não é um texto no rodapé: é comportamento verificável em logs, banco, sessão e integrações.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7987" y="1952526"/>
            <a:ext cx="1991370" cy="4397474"/>
          </a:xfrm>
          <a:prstGeom prst="roundRect">
            <a:avLst>
              <a:gd name="adj" fmla="val 12245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36582" y="2181126"/>
            <a:ext cx="507987" cy="508000"/>
          </a:xfrm>
          <a:prstGeom prst="rect">
            <a:avLst/>
          </a:prstGeom>
          <a:solidFill>
            <a:srgbClr val="F5F1E6"/>
          </a:solidFill>
          <a:ln w="50799">
            <a:solidFill>
              <a:srgbClr val="9E3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2842" y="2295426"/>
            <a:ext cx="90505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2332B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6582" y="2775446"/>
            <a:ext cx="1534181" cy="76200"/>
          </a:xfrm>
          <a:prstGeom prst="rect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6582" y="2991921"/>
            <a:ext cx="15341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Coletar menos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6582" y="3421737"/>
            <a:ext cx="153418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Logs sem IP, user-agent completo, localização exata ou conteúdo de evidências.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04050" y="1952526"/>
            <a:ext cx="1991370" cy="4397474"/>
          </a:xfrm>
          <a:prstGeom prst="roundRect">
            <a:avLst>
              <a:gd name="adj" fmla="val 12245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032644" y="2181126"/>
            <a:ext cx="507987" cy="508000"/>
          </a:xfrm>
          <a:prstGeom prst="rect">
            <a:avLst/>
          </a:prstGeom>
          <a:solidFill>
            <a:srgbClr val="F5F1E6"/>
          </a:solidFill>
          <a:ln w="50799">
            <a:solidFill>
              <a:srgbClr val="9E3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109339" y="2295426"/>
            <a:ext cx="9641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2332B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032644" y="2775446"/>
            <a:ext cx="1534181" cy="76200"/>
          </a:xfrm>
          <a:prstGeom prst="rect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032644" y="2991921"/>
            <a:ext cx="15341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Cifrar sempre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32644" y="3421737"/>
            <a:ext cx="153418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Relatos, fotos e áudios cifrados; chaves fora do banco e rotação documentada.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00113" y="1952526"/>
            <a:ext cx="1991469" cy="4397474"/>
          </a:xfrm>
          <a:prstGeom prst="roundRect">
            <a:avLst>
              <a:gd name="adj" fmla="val 12244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328707" y="2181126"/>
            <a:ext cx="507987" cy="508000"/>
          </a:xfrm>
          <a:prstGeom prst="rect">
            <a:avLst/>
          </a:prstGeom>
          <a:solidFill>
            <a:srgbClr val="F5F1E6"/>
          </a:solidFill>
          <a:ln w="50799">
            <a:solidFill>
              <a:srgbClr val="9E3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07088" y="2295426"/>
            <a:ext cx="96081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2332B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328707" y="2775446"/>
            <a:ext cx="1534181" cy="76200"/>
          </a:xfrm>
          <a:prstGeom prst="rect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328707" y="2991921"/>
            <a:ext cx="153428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Reter o mínimo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28707" y="3702328"/>
            <a:ext cx="1534280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Exclusão segura, rate limiting, headers de segurança e proteção contra enumeração.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96275" y="1952526"/>
            <a:ext cx="1991370" cy="4397474"/>
          </a:xfrm>
          <a:prstGeom prst="roundRect">
            <a:avLst>
              <a:gd name="adj" fmla="val 12245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624869" y="2181126"/>
            <a:ext cx="507987" cy="508000"/>
          </a:xfrm>
          <a:prstGeom prst="rect">
            <a:avLst/>
          </a:prstGeom>
          <a:solidFill>
            <a:srgbClr val="F5F1E6"/>
          </a:solidFill>
          <a:ln w="50799">
            <a:solidFill>
              <a:srgbClr val="9E3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97198" y="2295426"/>
            <a:ext cx="9728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22332B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4869" y="2775446"/>
            <a:ext cx="1534181" cy="76200"/>
          </a:xfrm>
          <a:prstGeom prst="rect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624869" y="2991921"/>
            <a:ext cx="1534181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Aproximar alertas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24869" y="3702328"/>
            <a:ext cx="1534181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Localização aproximada no alerta; coordenadas exatas nunca aparecem em telas públicas.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92338" y="1952526"/>
            <a:ext cx="1991370" cy="4397474"/>
          </a:xfrm>
          <a:prstGeom prst="roundRect">
            <a:avLst>
              <a:gd name="adj" fmla="val 12245"/>
            </a:avLst>
          </a:prstGeom>
          <a:solidFill>
            <a:srgbClr val="E7E1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9920932" y="2181126"/>
            <a:ext cx="507987" cy="508000"/>
          </a:xfrm>
          <a:prstGeom prst="rect">
            <a:avLst/>
          </a:prstGeom>
          <a:solidFill>
            <a:srgbClr val="146B62"/>
          </a:solidFill>
          <a:ln w="50799">
            <a:solidFill>
              <a:srgbClr val="146B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997626" y="2295426"/>
            <a:ext cx="9640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920932" y="2775446"/>
            <a:ext cx="1534181" cy="76200"/>
          </a:xfrm>
          <a:prstGeom prst="rect">
            <a:avLst/>
          </a:prstGeom>
          <a:solidFill>
            <a:srgbClr val="9E3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920932" y="2991921"/>
            <a:ext cx="1534181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0342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Permitir escape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920932" y="3702328"/>
            <a:ext cx="1534181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435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Quick Escape limpa tokens, cookies temporários, cache e histórico de sessão quando aplicável.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451" cy="6858000"/>
          </a:xfrm>
          <a:prstGeom prst="roundRect">
            <a:avLst>
              <a:gd name="adj" fmla="val 4103"/>
            </a:avLst>
          </a:prstGeom>
          <a:solidFill>
            <a:srgbClr val="F2C6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7987" y="1795304"/>
            <a:ext cx="5435464" cy="212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MOMENTO DE RISCO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2078534"/>
            <a:ext cx="4927477" cy="94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Sinais vermelhos e escape rápido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7987" y="3187479"/>
            <a:ext cx="4927477" cy="59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Orientação simples, sem diagnosticar nem culpabilizar.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87" y="4156249"/>
            <a:ext cx="492747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Autodefesa e redução de risco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7987" y="4587681"/>
            <a:ext cx="4927477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Planejamento de saída antecipado, uso de dispositivo seguro e rota combinada com alguém de confiança.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0"/>
            <a:ext cx="5943451" cy="1600200"/>
          </a:xfrm>
          <a:prstGeom prst="roundRect">
            <a:avLst>
              <a:gd name="adj" fmla="val 152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756231" y="514424"/>
            <a:ext cx="492747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Reconhecer sinais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56231" y="945857"/>
            <a:ext cx="4927477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Autoavaliação pública sobre controle, ameaça, isolamento e violências física, sexual, patrimonial ou psicológica.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8244" y="1752600"/>
            <a:ext cx="5943451" cy="1600200"/>
          </a:xfrm>
          <a:prstGeom prst="roundRect">
            <a:avLst>
              <a:gd name="adj" fmla="val 152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756231" y="2267024"/>
            <a:ext cx="492747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Escapar sem rastro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56231" y="2698457"/>
            <a:ext cx="4927477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Quick Escape encerra a sessão, remove temporários e redireciona para página neutra.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3505200"/>
            <a:ext cx="5943451" cy="1600200"/>
          </a:xfrm>
          <a:prstGeom prst="roundRect">
            <a:avLst>
              <a:gd name="adj" fmla="val 152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56231" y="4019624"/>
            <a:ext cx="492747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Canais oficiais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56231" y="4451057"/>
            <a:ext cx="4927477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Risco imediato:</a:t>
            </a: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190. </a:t>
            </a:r>
            <a:r>
              <a:rPr lang="en-US" sz="14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Ligue 180:</a:t>
            </a: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atendimento 24h, WhatsApp (61) 9610-0180, central180@mulheres.gov.br. </a:t>
            </a:r>
            <a:r>
              <a:rPr lang="en-US" sz="14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Lei 11.340/2006</a:t>
            </a: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(Maria da Penha): </a:t>
            </a:r>
            <a:r>
              <a:rPr lang="en-US" sz="1400" b="1" u="sng" dirty="0">
                <a:solidFill>
                  <a:srgbClr val="9E3F1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texto oficial</a:t>
            </a: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8244" y="5257800"/>
            <a:ext cx="5943451" cy="1600200"/>
          </a:xfrm>
          <a:prstGeom prst="roundRect">
            <a:avLst>
              <a:gd name="adj" fmla="val 15238"/>
            </a:avLst>
          </a:prstGeom>
          <a:solidFill>
            <a:srgbClr val="F5F1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756231" y="5772224"/>
            <a:ext cx="492747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Dados oficiais (2024)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56231" y="6203657"/>
            <a:ext cx="4927477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Ligue 180: 691.444 ligações (+21,6%); 750.687 atendimentos (2.051/dia); 14.572 via WhatsApp (+63,4%).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0ECE92F-F2F5-AD3D-EBD4-2445F8898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115901"/>
              </p:ext>
            </p:extLst>
          </p:nvPr>
        </p:nvGraphicFramePr>
        <p:xfrm>
          <a:off x="619837" y="665262"/>
          <a:ext cx="10769523" cy="59353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61097">
                  <a:extLst>
                    <a:ext uri="{9D8B030D-6E8A-4147-A177-3AD203B41FA5}">
                      <a16:colId xmlns:a16="http://schemas.microsoft.com/office/drawing/2014/main" val="3077762265"/>
                    </a:ext>
                  </a:extLst>
                </a:gridCol>
                <a:gridCol w="2761097">
                  <a:extLst>
                    <a:ext uri="{9D8B030D-6E8A-4147-A177-3AD203B41FA5}">
                      <a16:colId xmlns:a16="http://schemas.microsoft.com/office/drawing/2014/main" val="4214176671"/>
                    </a:ext>
                  </a:extLst>
                </a:gridCol>
                <a:gridCol w="2486232">
                  <a:extLst>
                    <a:ext uri="{9D8B030D-6E8A-4147-A177-3AD203B41FA5}">
                      <a16:colId xmlns:a16="http://schemas.microsoft.com/office/drawing/2014/main" val="315505843"/>
                    </a:ext>
                  </a:extLst>
                </a:gridCol>
                <a:gridCol w="2761097">
                  <a:extLst>
                    <a:ext uri="{9D8B030D-6E8A-4147-A177-3AD203B41FA5}">
                      <a16:colId xmlns:a16="http://schemas.microsoft.com/office/drawing/2014/main" val="894543064"/>
                    </a:ext>
                  </a:extLst>
                </a:gridCol>
              </a:tblGrid>
              <a:tr h="18966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Função / Frente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Descrição / Atuação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Integrante / Nome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Contato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2965707766"/>
                  </a:ext>
                </a:extLst>
              </a:tr>
              <a:tr h="51077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Orientação / Professor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Professor orientador especializado em Inteligência Artificial e Aprendizagem Interativa.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Álvaro Machado Júnior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3778032051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Back-</a:t>
                      </a:r>
                      <a:r>
                        <a:rPr lang="pt-BR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Responsável pela estruturação do back-end e otimização das consultas de dados.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Dayene Souza Silva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2731177665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Back-</a:t>
                      </a:r>
                      <a:r>
                        <a:rPr lang="pt-BR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Atua na arquitetura do banco de dados e na robustez das funcionalidades.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Jessica Paola Miranda Vitorino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3445365273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Front-</a:t>
                      </a:r>
                      <a:r>
                        <a:rPr lang="pt-BR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Desenvolve interfaces responsivas focadas na melhor experiência da usuária.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Miguel Felipi da Silva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2507423185"/>
                  </a:ext>
                </a:extLst>
              </a:tr>
              <a:tr h="51077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Chatbot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Responsável pelo desenvolvimento da lógica e estruturação do chatbot de apoio.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Priscila Rodrigues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1267643598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Chatbot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Atua na automação de fluxos e na integração do suporte técnico do chatbot.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Brayan da Cruz Souza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1061960610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Chatbot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Focada na implementação de funcionalidades inteligentes e na experiência do usuário.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Lavinia Rodrigues Vieira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3118837755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Imagens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Responsável pela criação, geração e curadoria de todo o conteúdo visual do projeto.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Julia Maria Morais Cardoso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3217663528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Imagens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Colabora no processamento e tratamento das imagens integradas ao sistema.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Solange Maria Morais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457189968"/>
                  </a:ext>
                </a:extLst>
              </a:tr>
              <a:tr h="388632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Documentação (</a:t>
                      </a:r>
                      <a:r>
                        <a:rPr lang="pt-BR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Readme</a:t>
                      </a: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Gerencia a documentação técnica e organiza o repositório do projeto.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Helloa Sousa Monteiro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628309038"/>
                  </a:ext>
                </a:extLst>
              </a:tr>
              <a:tr h="51061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Documentação (</a:t>
                      </a:r>
                      <a:r>
                        <a:rPr lang="pt-BR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Readme</a:t>
                      </a: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Elabora guias técnicos e mantém o registro detalhado das funcionalidades.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Talita Monteiro dos Santos</a:t>
                      </a:r>
                    </a:p>
                  </a:txBody>
                  <a:tcPr marL="24950" marR="24950" marT="16634" marB="16634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Reservado</a:t>
                      </a:r>
                    </a:p>
                  </a:txBody>
                  <a:tcPr marL="24950" marR="24950" marT="16634" marB="16634" anchor="ctr"/>
                </a:tc>
                <a:extLst>
                  <a:ext uri="{0D108BD9-81ED-4DB2-BD59-A6C34878D82A}">
                    <a16:rowId xmlns:a16="http://schemas.microsoft.com/office/drawing/2014/main" val="3762112885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F722126D-4907-0A35-A089-99EB3C8FE9C5}"/>
              </a:ext>
            </a:extLst>
          </p:cNvPr>
          <p:cNvSpPr/>
          <p:nvPr/>
        </p:nvSpPr>
        <p:spPr>
          <a:xfrm>
            <a:off x="619837" y="144256"/>
            <a:ext cx="5272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b="1" kern="100" spc="-29" dirty="0">
                <a:solidFill>
                  <a:srgbClr val="20342A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Equipe e responsabilidades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66478321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18</TotalTime>
  <Words>1255</Words>
  <Application>Microsoft Office PowerPoint</Application>
  <PresentationFormat>Widescreen</PresentationFormat>
  <Paragraphs>181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Consolas</vt:lpstr>
      <vt:lpstr>Overpass Bold</vt:lpstr>
      <vt:lpstr>Neue Haas Grotesk Text Pro</vt:lpstr>
      <vt:lpstr>Public Sans</vt:lpstr>
      <vt:lpstr>Public Sans Bold</vt:lpstr>
      <vt:lpstr>Arial</vt:lpstr>
      <vt:lpstr>Calibri</vt:lpstr>
      <vt:lpstr>Helena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Paola Miranda Vitorino</dc:creator>
  <cp:lastModifiedBy>Jessica Paola Miranda Vitorino</cp:lastModifiedBy>
  <cp:revision>2</cp:revision>
  <dcterms:created xsi:type="dcterms:W3CDTF">2026-10-17T13:21:25Z</dcterms:created>
  <dcterms:modified xsi:type="dcterms:W3CDTF">2026-10-17T13:40:19Z</dcterms:modified>
</cp:coreProperties>
</file>